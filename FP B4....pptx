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52" r:id="rId4"/>
  </p:sldMasterIdLst>
  <p:notesMasterIdLst>
    <p:notesMasterId r:id="rId25"/>
  </p:notesMasterIdLst>
  <p:handoutMasterIdLst>
    <p:handoutMasterId r:id="rId26"/>
  </p:handoutMasterIdLst>
  <p:sldIdLst>
    <p:sldId id="256" r:id="rId5"/>
    <p:sldId id="276" r:id="rId6"/>
    <p:sldId id="275" r:id="rId7"/>
    <p:sldId id="283" r:id="rId8"/>
    <p:sldId id="286" r:id="rId9"/>
    <p:sldId id="288" r:id="rId10"/>
    <p:sldId id="289" r:id="rId11"/>
    <p:sldId id="291" r:id="rId12"/>
    <p:sldId id="292" r:id="rId13"/>
    <p:sldId id="293" r:id="rId14"/>
    <p:sldId id="294" r:id="rId15"/>
    <p:sldId id="295" r:id="rId16"/>
    <p:sldId id="296" r:id="rId17"/>
    <p:sldId id="297" r:id="rId18"/>
    <p:sldId id="298" r:id="rId19"/>
    <p:sldId id="299" r:id="rId20"/>
    <p:sldId id="300" r:id="rId21"/>
    <p:sldId id="284" r:id="rId22"/>
    <p:sldId id="290" r:id="rId23"/>
    <p:sldId id="28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75"/>
  </p:normalViewPr>
  <p:slideViewPr>
    <p:cSldViewPr snapToGrid="0" snapToObjects="1">
      <p:cViewPr varScale="1">
        <p:scale>
          <a:sx n="88" d="100"/>
          <a:sy n="88" d="100"/>
        </p:scale>
        <p:origin x="240" y="90"/>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663F-0F71-4941-839F-4D376A50B1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C142CB8-EC67-47AC-810C-39EACC3AA5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1F8F58-3262-4466-8DB1-B329F63F404F}" type="datetimeFigureOut">
              <a:rPr lang="en-US" smtClean="0"/>
              <a:t>4/9/2025</a:t>
            </a:fld>
            <a:endParaRPr lang="en-US" dirty="0"/>
          </a:p>
        </p:txBody>
      </p:sp>
      <p:sp>
        <p:nvSpPr>
          <p:cNvPr id="4" name="Footer Placeholder 3">
            <a:extLst>
              <a:ext uri="{FF2B5EF4-FFF2-40B4-BE49-F238E27FC236}">
                <a16:creationId xmlns:a16="http://schemas.microsoft.com/office/drawing/2014/main" id="{87EB2D2D-60E4-477E-84AF-48DE5C24FA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5F6F142-CFE2-4AA2-8A1E-CADC565C24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F595F6-1BED-4F30-933F-F0CD66CEE780}" type="slidenum">
              <a:rPr lang="en-US" smtClean="0"/>
              <a:t>‹#›</a:t>
            </a:fld>
            <a:endParaRPr lang="en-US" dirty="0"/>
          </a:p>
        </p:txBody>
      </p:sp>
    </p:spTree>
    <p:extLst>
      <p:ext uri="{BB962C8B-B14F-4D97-AF65-F5344CB8AC3E}">
        <p14:creationId xmlns:p14="http://schemas.microsoft.com/office/powerpoint/2010/main" val="35015411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CF71C-E8D2-4E49-B04C-B160BC17D861}" type="datetimeFigureOut">
              <a:rPr lang="en-US" smtClean="0"/>
              <a:t>4/9/2025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D76E09-41B7-FE4E-B099-04DFD58B8CF1}" type="slidenum">
              <a:rPr lang="en-US" smtClean="0"/>
              <a:t>‹#›</a:t>
            </a:fld>
            <a:endParaRPr lang="en-US" dirty="0"/>
          </a:p>
        </p:txBody>
      </p:sp>
    </p:spTree>
    <p:extLst>
      <p:ext uri="{BB962C8B-B14F-4D97-AF65-F5344CB8AC3E}">
        <p14:creationId xmlns:p14="http://schemas.microsoft.com/office/powerpoint/2010/main" val="1629511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D76E09-41B7-FE4E-B099-04DFD58B8CF1}" type="slidenum">
              <a:rPr lang="en-US" smtClean="0"/>
              <a:t>1</a:t>
            </a:fld>
            <a:endParaRPr lang="en-US" dirty="0"/>
          </a:p>
        </p:txBody>
      </p:sp>
    </p:spTree>
    <p:extLst>
      <p:ext uri="{BB962C8B-B14F-4D97-AF65-F5344CB8AC3E}">
        <p14:creationId xmlns:p14="http://schemas.microsoft.com/office/powerpoint/2010/main" val="92216628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D0534-BB92-D249-82B9-49A38E7BB51A}" type="datetime1">
              <a:rPr lang="en-US" smtClean="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32673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EE8AFE-A49F-3347-91BC-9E8CE1BCC4B4}" type="datetime1">
              <a:rPr lang="en-US" smtClean="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05088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5EA109CB-DDDB-7949-A85C-355CAB3D7576}" type="datetime1">
              <a:rPr lang="en-US" smtClean="0"/>
              <a:t>4/9/2025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8566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E56BB9-C860-D945-A0DA-AC84E1154E6B}" type="datetime1">
              <a:rPr lang="en-US" smtClean="0"/>
              <a:t>4/9/2025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88177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C5F966-147F-B24F-8855-ADF4B9638779}" type="datetime1">
              <a:rPr lang="en-US" smtClean="0"/>
              <a:t>4/9/2025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62686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32BB21E-6508-274A-8215-090AB0A8BFD7}" type="datetime1">
              <a:rPr lang="en-US" smtClean="0"/>
              <a:t>4/9/2025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81467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5E3B75-9C36-5140-9B2C-4AB02DB5CE55}" type="datetime1">
              <a:rPr lang="en-US" smtClean="0"/>
              <a:t>4/9/2025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776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7E5107-D26A-8749-91B4-BDF6C1B6361A}" type="datetime1">
              <a:rPr lang="en-US" smtClean="0"/>
              <a:t>4/9/2025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11674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CC6945-859D-154B-9E61-3980F2B5BC84}" type="datetime1">
              <a:rPr lang="en-US" smtClean="0"/>
              <a:t>4/9/2025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1372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922B72-5EFB-2B4D-BBDF-916337A53DC6}" type="datetime1">
              <a:rPr lang="en-US" smtClean="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16891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6B05E1-C71E-544E-9F74-844878BC4783}" type="datetime1">
              <a:rPr lang="en-US" smtClean="0"/>
              <a:t>4/9/2025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76527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3E2B6D2D-DD65-7542-B616-C09BD0686257}" type="datetime1">
              <a:rPr lang="en-US" smtClean="0"/>
              <a:t>4/9/2025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75904696"/>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link.springer.com/book/10.1007/978-3-030-57954-2" TargetMode="External"/><Relationship Id="rId2" Type="http://schemas.openxmlformats.org/officeDocument/2006/relationships/hyperlink" Target="https://www.amazon.com/Digital-Marketing-Strategy-Implementation-Practice/dp/1292241574" TargetMode="External"/><Relationship Id="rId1" Type="http://schemas.openxmlformats.org/officeDocument/2006/relationships/slideLayout" Target="../slideLayouts/slideLayout3.xml"/><Relationship Id="rId5" Type="http://schemas.openxmlformats.org/officeDocument/2006/relationships/hyperlink" Target="https://github.com/sagar28-kls/Grocery-shopping.git" TargetMode="External"/><Relationship Id="rId4" Type="http://schemas.openxmlformats.org/officeDocument/2006/relationships/hyperlink" Target="https://aws.amazon.com/architecture/ecommerce/"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16.pn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C28659E-412C-4600-B45E-BAE370BC24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vocados and peppers on a cutting board">
            <a:extLst>
              <a:ext uri="{FF2B5EF4-FFF2-40B4-BE49-F238E27FC236}">
                <a16:creationId xmlns:a16="http://schemas.microsoft.com/office/drawing/2014/main" id="{573EC269-9A59-49F8-B377-784E209B3A04}"/>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524" y="-2"/>
            <a:ext cx="12191980" cy="6857989"/>
          </a:xfrm>
          <a:prstGeom prst="rect">
            <a:avLst/>
          </a:prstGeom>
        </p:spPr>
      </p:pic>
      <p:sp>
        <p:nvSpPr>
          <p:cNvPr id="20" name="Rectangle 19">
            <a:extLst>
              <a:ext uri="{FF2B5EF4-FFF2-40B4-BE49-F238E27FC236}">
                <a16:creationId xmlns:a16="http://schemas.microsoft.com/office/drawing/2014/main" id="{AE95896B-6905-4618-A7DF-DED8A61FBC8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7748BD8C-4984-4138-94CA-2DC5F39DC37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blipFill dpi="0" rotWithShape="1">
            <a:blip r:embed="rId4">
              <a:alphaModFix amt="30000"/>
              <a:duotone>
                <a:prstClr val="black"/>
                <a:schemeClr val="accent1">
                  <a:tint val="45000"/>
                  <a:satMod val="400000"/>
                </a:schemeClr>
              </a:duotone>
              <a:extLst>
                <a:ext uri="{BEBA8EAE-BF5A-486C-A8C5-ECC9F3942E4B}">
                  <a14:imgProps xmlns:a14="http://schemas.microsoft.com/office/drawing/2010/main">
                    <a14:imgLayer r:embed="rId5">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C93519-6B29-1346-9FCB-0835B80531A4}"/>
              </a:ext>
            </a:extLst>
          </p:cNvPr>
          <p:cNvSpPr>
            <a:spLocks noGrp="1"/>
          </p:cNvSpPr>
          <p:nvPr>
            <p:ph type="ctrTitle"/>
          </p:nvPr>
        </p:nvSpPr>
        <p:spPr>
          <a:xfrm>
            <a:off x="265176" y="1960978"/>
            <a:ext cx="9966960" cy="1477942"/>
          </a:xfrm>
        </p:spPr>
        <p:txBody>
          <a:bodyPr anchor="b">
            <a:normAutofit/>
          </a:bodyPr>
          <a:lstStyle/>
          <a:p>
            <a:r>
              <a:rPr lang="en-US" sz="6000" b="1" dirty="0">
                <a:solidFill>
                  <a:srgbClr val="FFFFFF"/>
                </a:solidFill>
                <a:latin typeface="Times New Roman" panose="02020603050405020304" pitchFamily="18" charset="0"/>
                <a:cs typeface="Times New Roman" panose="02020603050405020304" pitchFamily="18" charset="0"/>
              </a:rPr>
              <a:t>“ GROcery store ”</a:t>
            </a:r>
          </a:p>
        </p:txBody>
      </p:sp>
      <p:sp>
        <p:nvSpPr>
          <p:cNvPr id="8" name="Subtitle 7">
            <a:extLst>
              <a:ext uri="{FF2B5EF4-FFF2-40B4-BE49-F238E27FC236}">
                <a16:creationId xmlns:a16="http://schemas.microsoft.com/office/drawing/2014/main" id="{57FFE273-805C-47CC-98BD-C63CD14BF635}"/>
              </a:ext>
            </a:extLst>
          </p:cNvPr>
          <p:cNvSpPr>
            <a:spLocks noGrp="1"/>
          </p:cNvSpPr>
          <p:nvPr>
            <p:ph type="subTitle" idx="1"/>
          </p:nvPr>
        </p:nvSpPr>
        <p:spPr>
          <a:xfrm>
            <a:off x="576072" y="526535"/>
            <a:ext cx="7891272" cy="868680"/>
          </a:xfrm>
        </p:spPr>
        <p:txBody>
          <a:bodyPr>
            <a:normAutofit/>
          </a:bodyPr>
          <a:lstStyle/>
          <a:p>
            <a:r>
              <a:rPr lang="en-US" sz="2800" b="1" dirty="0">
                <a:solidFill>
                  <a:schemeClr val="bg1"/>
                </a:solidFill>
                <a:latin typeface="Times New Roman" panose="02020603050405020304" pitchFamily="18" charset="0"/>
                <a:cs typeface="Times New Roman" panose="02020603050405020304" pitchFamily="18" charset="0"/>
              </a:rPr>
              <a:t>"Fresh Picks, Fast Delivery – Your One-Stop Online Grocery Store!"</a:t>
            </a:r>
          </a:p>
        </p:txBody>
      </p:sp>
      <p:sp>
        <p:nvSpPr>
          <p:cNvPr id="3" name="TextBox 2">
            <a:extLst>
              <a:ext uri="{FF2B5EF4-FFF2-40B4-BE49-F238E27FC236}">
                <a16:creationId xmlns:a16="http://schemas.microsoft.com/office/drawing/2014/main" id="{1B301AE8-B47B-1E0E-0E60-AC21725B8CFF}"/>
              </a:ext>
            </a:extLst>
          </p:cNvPr>
          <p:cNvSpPr txBox="1"/>
          <p:nvPr/>
        </p:nvSpPr>
        <p:spPr>
          <a:xfrm>
            <a:off x="3547872" y="4389120"/>
            <a:ext cx="4379976" cy="1969770"/>
          </a:xfrm>
          <a:prstGeom prst="rect">
            <a:avLst/>
          </a:prstGeom>
          <a:noFill/>
        </p:spPr>
        <p:txBody>
          <a:bodyPr wrap="square" rtlCol="0">
            <a:spAutoFit/>
          </a:bodyPr>
          <a:lstStyle/>
          <a:p>
            <a:r>
              <a:rPr lang="en-HK" sz="3200" dirty="0">
                <a:solidFill>
                  <a:schemeClr val="bg1"/>
                </a:solidFill>
                <a:latin typeface="Times New Roman" panose="02020603050405020304" pitchFamily="18" charset="0"/>
                <a:cs typeface="Times New Roman" panose="02020603050405020304" pitchFamily="18" charset="0"/>
              </a:rPr>
              <a:t>By </a:t>
            </a:r>
            <a:r>
              <a:rPr lang="en-HK" sz="3200" dirty="0" smtClean="0">
                <a:solidFill>
                  <a:schemeClr val="bg1"/>
                </a:solidFill>
                <a:latin typeface="Times New Roman" panose="02020603050405020304" pitchFamily="18" charset="0"/>
                <a:cs typeface="Times New Roman" panose="02020603050405020304" pitchFamily="18" charset="0"/>
              </a:rPr>
              <a:t>Batch-04</a:t>
            </a:r>
            <a:endParaRPr lang="en-HK" sz="3200" dirty="0">
              <a:solidFill>
                <a:schemeClr val="bg1"/>
              </a:solidFill>
              <a:latin typeface="Times New Roman" panose="02020603050405020304" pitchFamily="18" charset="0"/>
              <a:cs typeface="Times New Roman" panose="02020603050405020304" pitchFamily="18" charset="0"/>
            </a:endParaRPr>
          </a:p>
          <a:p>
            <a:r>
              <a:rPr lang="en-HK" dirty="0" smtClean="0">
                <a:solidFill>
                  <a:schemeClr val="bg1"/>
                </a:solidFill>
                <a:latin typeface="Times New Roman" panose="02020603050405020304" pitchFamily="18" charset="0"/>
                <a:cs typeface="Times New Roman" panose="02020603050405020304" pitchFamily="18" charset="0"/>
              </a:rPr>
              <a:t>       231FA04283-Avanthika .v</a:t>
            </a:r>
            <a:endParaRPr lang="en-HK" dirty="0">
              <a:solidFill>
                <a:schemeClr val="bg1"/>
              </a:solidFill>
              <a:latin typeface="Times New Roman" panose="02020603050405020304" pitchFamily="18" charset="0"/>
              <a:cs typeface="Times New Roman" panose="02020603050405020304" pitchFamily="18" charset="0"/>
            </a:endParaRPr>
          </a:p>
          <a:p>
            <a:r>
              <a:rPr lang="en-HK" dirty="0">
                <a:solidFill>
                  <a:schemeClr val="bg1"/>
                </a:solidFill>
                <a:latin typeface="Times New Roman" panose="02020603050405020304" pitchFamily="18" charset="0"/>
                <a:cs typeface="Times New Roman" panose="02020603050405020304" pitchFamily="18" charset="0"/>
              </a:rPr>
              <a:t>       </a:t>
            </a:r>
            <a:r>
              <a:rPr lang="en-HK" dirty="0" smtClean="0">
                <a:solidFill>
                  <a:schemeClr val="bg1"/>
                </a:solidFill>
                <a:latin typeface="Times New Roman" panose="02020603050405020304" pitchFamily="18" charset="0"/>
                <a:cs typeface="Times New Roman" panose="02020603050405020304" pitchFamily="18" charset="0"/>
              </a:rPr>
              <a:t>231FA04381-Chandana.J</a:t>
            </a:r>
          </a:p>
          <a:p>
            <a:r>
              <a:rPr lang="en-HK" dirty="0" smtClean="0">
                <a:solidFill>
                  <a:schemeClr val="bg1"/>
                </a:solidFill>
                <a:latin typeface="Times New Roman" panose="02020603050405020304" pitchFamily="18" charset="0"/>
                <a:cs typeface="Times New Roman" panose="02020603050405020304" pitchFamily="18" charset="0"/>
              </a:rPr>
              <a:t>	231FA04431-Mohana </a:t>
            </a:r>
            <a:r>
              <a:rPr lang="en-HK" dirty="0" err="1" smtClean="0">
                <a:solidFill>
                  <a:schemeClr val="bg1"/>
                </a:solidFill>
                <a:latin typeface="Times New Roman" panose="02020603050405020304" pitchFamily="18" charset="0"/>
                <a:cs typeface="Times New Roman" panose="02020603050405020304" pitchFamily="18" charset="0"/>
              </a:rPr>
              <a:t>Venkata</a:t>
            </a:r>
            <a:r>
              <a:rPr lang="en-HK" dirty="0" smtClean="0">
                <a:solidFill>
                  <a:schemeClr val="bg1"/>
                </a:solidFill>
                <a:latin typeface="Times New Roman" panose="02020603050405020304" pitchFamily="18" charset="0"/>
                <a:cs typeface="Times New Roman" panose="02020603050405020304" pitchFamily="18" charset="0"/>
              </a:rPr>
              <a:t> Krishna</a:t>
            </a:r>
          </a:p>
          <a:p>
            <a:r>
              <a:rPr lang="en-HK" dirty="0">
                <a:solidFill>
                  <a:schemeClr val="bg1"/>
                </a:solidFill>
                <a:latin typeface="Times New Roman" panose="02020603050405020304" pitchFamily="18" charset="0"/>
                <a:cs typeface="Times New Roman" panose="02020603050405020304" pitchFamily="18" charset="0"/>
              </a:rPr>
              <a:t>	</a:t>
            </a:r>
            <a:r>
              <a:rPr lang="en-HK" dirty="0" smtClean="0">
                <a:solidFill>
                  <a:schemeClr val="bg1"/>
                </a:solidFill>
                <a:latin typeface="Times New Roman" panose="02020603050405020304" pitchFamily="18" charset="0"/>
                <a:cs typeface="Times New Roman" panose="02020603050405020304" pitchFamily="18" charset="0"/>
              </a:rPr>
              <a:t>231FA04548-Dharani.G</a:t>
            </a:r>
            <a:endParaRPr lang="en-HK" dirty="0">
              <a:solidFill>
                <a:schemeClr val="bg1"/>
              </a:solidFill>
              <a:latin typeface="Times New Roman" panose="02020603050405020304" pitchFamily="18" charset="0"/>
              <a:cs typeface="Times New Roman" panose="02020603050405020304" pitchFamily="18" charset="0"/>
            </a:endParaRPr>
          </a:p>
          <a:p>
            <a:endParaRPr lang="en-HK" dirty="0"/>
          </a:p>
        </p:txBody>
      </p:sp>
    </p:spTree>
    <p:extLst>
      <p:ext uri="{BB962C8B-B14F-4D97-AF65-F5344CB8AC3E}">
        <p14:creationId xmlns:p14="http://schemas.microsoft.com/office/powerpoint/2010/main" val="5312471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003F41-AABF-A296-24FA-A1125F9F56AD}"/>
              </a:ext>
            </a:extLst>
          </p:cNvPr>
          <p:cNvSpPr>
            <a:spLocks noGrp="1"/>
          </p:cNvSpPr>
          <p:nvPr>
            <p:ph type="sldNum" sz="quarter" idx="12"/>
          </p:nvPr>
        </p:nvSpPr>
        <p:spPr/>
        <p:txBody>
          <a:bodyPr/>
          <a:lstStyle/>
          <a:p>
            <a:fld id="{4FAB73BC-B049-4115-A692-8D63A059BFB8}" type="slidenum">
              <a:rPr lang="en-US" smtClean="0"/>
              <a:t>2</a:t>
            </a:fld>
            <a:endParaRPr lang="en-US" dirty="0"/>
          </a:p>
        </p:txBody>
      </p:sp>
      <p:sp>
        <p:nvSpPr>
          <p:cNvPr id="3" name="TextBox 2">
            <a:extLst>
              <a:ext uri="{FF2B5EF4-FFF2-40B4-BE49-F238E27FC236}">
                <a16:creationId xmlns:a16="http://schemas.microsoft.com/office/drawing/2014/main" id="{215BB1A2-C331-3466-5C66-76972320C858}"/>
              </a:ext>
            </a:extLst>
          </p:cNvPr>
          <p:cNvSpPr txBox="1"/>
          <p:nvPr/>
        </p:nvSpPr>
        <p:spPr>
          <a:xfrm>
            <a:off x="1764792" y="1042416"/>
            <a:ext cx="6867144" cy="861774"/>
          </a:xfrm>
          <a:prstGeom prst="rect">
            <a:avLst/>
          </a:prstGeom>
          <a:noFill/>
        </p:spPr>
        <p:txBody>
          <a:bodyPr wrap="square" rtlCol="0">
            <a:spAutoFit/>
          </a:bodyPr>
          <a:lstStyle/>
          <a:p>
            <a:r>
              <a:rPr lang="en-US" sz="3200" b="1" dirty="0" smtClean="0">
                <a:solidFill>
                  <a:schemeClr val="accent2">
                    <a:lumMod val="60000"/>
                    <a:lumOff val="40000"/>
                  </a:schemeClr>
                </a:solidFill>
                <a:effectLst/>
                <a:latin typeface="Times New Roman" panose="02020603050405020304" pitchFamily="18" charset="0"/>
                <a:ea typeface="Times New Roman" panose="02020603050405020304" pitchFamily="18" charset="0"/>
              </a:rPr>
              <a:t>INTRODUCTION</a:t>
            </a:r>
            <a:r>
              <a:rPr lang="en-US" sz="3200" b="1" dirty="0">
                <a:solidFill>
                  <a:schemeClr val="accent2">
                    <a:lumMod val="60000"/>
                    <a:lumOff val="40000"/>
                  </a:schemeClr>
                </a:solidFill>
                <a:effectLst/>
                <a:latin typeface="Times New Roman" panose="02020603050405020304" pitchFamily="18" charset="0"/>
                <a:ea typeface="Times New Roman" panose="02020603050405020304" pitchFamily="18" charset="0"/>
              </a:rPr>
              <a:t>:</a:t>
            </a:r>
            <a:endParaRPr lang="en-HK" sz="3200" b="1" dirty="0">
              <a:solidFill>
                <a:schemeClr val="accent2">
                  <a:lumMod val="60000"/>
                  <a:lumOff val="40000"/>
                </a:schemeClr>
              </a:solidFill>
              <a:effectLst/>
              <a:latin typeface="Calibri" panose="020F0502020204030204" pitchFamily="34" charset="0"/>
              <a:ea typeface="Calibri" panose="020F0502020204030204" pitchFamily="34" charset="0"/>
            </a:endParaRPr>
          </a:p>
          <a:p>
            <a:endParaRPr lang="en-HK" dirty="0"/>
          </a:p>
        </p:txBody>
      </p:sp>
      <p:sp>
        <p:nvSpPr>
          <p:cNvPr id="4" name="TextBox 3">
            <a:extLst>
              <a:ext uri="{FF2B5EF4-FFF2-40B4-BE49-F238E27FC236}">
                <a16:creationId xmlns:a16="http://schemas.microsoft.com/office/drawing/2014/main" id="{E2A3BD60-36DD-D134-75A0-9D1B85D60960}"/>
              </a:ext>
            </a:extLst>
          </p:cNvPr>
          <p:cNvSpPr txBox="1"/>
          <p:nvPr/>
        </p:nvSpPr>
        <p:spPr>
          <a:xfrm>
            <a:off x="1691640" y="2104470"/>
            <a:ext cx="7488936" cy="3569182"/>
          </a:xfrm>
          <a:prstGeom prst="rect">
            <a:avLst/>
          </a:prstGeom>
          <a:noFill/>
        </p:spPr>
        <p:txBody>
          <a:bodyPr wrap="square" rtlCol="0">
            <a:spAutoFit/>
          </a:bodyPr>
          <a:lstStyle/>
          <a:p>
            <a:pPr algn="just">
              <a:lnSpc>
                <a:spcPct val="107000"/>
              </a:lnSpc>
              <a:spcAft>
                <a:spcPts val="800"/>
              </a:spcAft>
            </a:pPr>
            <a:r>
              <a:rPr lang="en-HK" sz="2000" dirty="0">
                <a:effectLst/>
                <a:latin typeface="Times New Roman" panose="02020603050405020304" pitchFamily="18" charset="0"/>
                <a:ea typeface="Times New Roman" panose="02020603050405020304" pitchFamily="18" charset="0"/>
              </a:rPr>
              <a:t>At our store, we bring fresh, high-quality groceries right to your doorstep with just a few clicks. Our mission is to make grocery shopping easy, convenient, and hassle-free. Whether you're looking for farm-fresh produce, pantry essentials, dairy products, or household items, we've got you covered.</a:t>
            </a:r>
            <a:endParaRPr lang="en-HK" sz="2000" dirty="0">
              <a:effectLst/>
              <a:latin typeface="Calibri" panose="020F0502020204030204" pitchFamily="34" charset="0"/>
              <a:ea typeface="Calibri" panose="020F0502020204030204" pitchFamily="34" charset="0"/>
            </a:endParaRPr>
          </a:p>
          <a:p>
            <a:pPr algn="just">
              <a:lnSpc>
                <a:spcPct val="107000"/>
              </a:lnSpc>
              <a:spcAft>
                <a:spcPts val="800"/>
              </a:spcAft>
            </a:pPr>
            <a:r>
              <a:rPr lang="en-HK" sz="2000" dirty="0">
                <a:effectLst/>
                <a:latin typeface="Times New Roman" panose="02020603050405020304" pitchFamily="18" charset="0"/>
                <a:ea typeface="Times New Roman" panose="02020603050405020304" pitchFamily="18" charset="0"/>
              </a:rPr>
              <a:t>With a user-friendly interface, secure payment options, and fast delivery, we ensure a seamless shopping experience. Browse through our wide range of products, add them to your cart, and get them delivered at your convenience</a:t>
            </a:r>
            <a:r>
              <a:rPr lang="en-HK" sz="2000" b="1" dirty="0">
                <a:effectLst/>
                <a:latin typeface="Times New Roman" panose="02020603050405020304" pitchFamily="18" charset="0"/>
                <a:ea typeface="Times New Roman" panose="02020603050405020304" pitchFamily="18" charset="0"/>
              </a:rPr>
              <a:t>.</a:t>
            </a:r>
            <a:endParaRPr lang="en-HK" sz="2000" dirty="0">
              <a:effectLst/>
              <a:latin typeface="Calibri" panose="020F0502020204030204" pitchFamily="34" charset="0"/>
              <a:ea typeface="Calibri" panose="020F0502020204030204" pitchFamily="34" charset="0"/>
            </a:endParaRPr>
          </a:p>
          <a:p>
            <a:endParaRPr lang="en-HK" sz="2000" dirty="0"/>
          </a:p>
        </p:txBody>
      </p:sp>
    </p:spTree>
    <p:extLst>
      <p:ext uri="{BB962C8B-B14F-4D97-AF65-F5344CB8AC3E}">
        <p14:creationId xmlns:p14="http://schemas.microsoft.com/office/powerpoint/2010/main" val="13028849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08ECC4-B71C-39A8-348E-380CFA3BF98D}"/>
              </a:ext>
            </a:extLst>
          </p:cNvPr>
          <p:cNvSpPr txBox="1"/>
          <p:nvPr/>
        </p:nvSpPr>
        <p:spPr>
          <a:xfrm>
            <a:off x="910481" y="583910"/>
            <a:ext cx="4645152" cy="800219"/>
          </a:xfrm>
          <a:prstGeom prst="rect">
            <a:avLst/>
          </a:prstGeom>
          <a:noFill/>
        </p:spPr>
        <p:txBody>
          <a:bodyPr wrap="square" rtlCol="0">
            <a:spAutoFit/>
          </a:bodyPr>
          <a:lstStyle/>
          <a:p>
            <a:r>
              <a:rPr lang="en-US" sz="2800" b="1" dirty="0">
                <a:solidFill>
                  <a:schemeClr val="accent2">
                    <a:lumMod val="60000"/>
                    <a:lumOff val="40000"/>
                  </a:schemeClr>
                </a:solidFill>
                <a:effectLst/>
                <a:latin typeface="Times New Roman" panose="02020603050405020304" pitchFamily="18" charset="0"/>
                <a:ea typeface="Times New Roman" panose="02020603050405020304" pitchFamily="18" charset="0"/>
              </a:rPr>
              <a:t>PROBLEM STATEMENT:</a:t>
            </a:r>
            <a:endParaRPr lang="en-HK" sz="2800" b="1" dirty="0">
              <a:solidFill>
                <a:schemeClr val="accent2">
                  <a:lumMod val="60000"/>
                  <a:lumOff val="40000"/>
                </a:schemeClr>
              </a:solidFill>
              <a:effectLst/>
              <a:latin typeface="Calibri" panose="020F0502020204030204" pitchFamily="34" charset="0"/>
              <a:ea typeface="Calibri" panose="020F0502020204030204" pitchFamily="34" charset="0"/>
            </a:endParaRPr>
          </a:p>
          <a:p>
            <a:endParaRPr lang="en-HK" dirty="0"/>
          </a:p>
        </p:txBody>
      </p:sp>
      <p:sp>
        <p:nvSpPr>
          <p:cNvPr id="7" name="TextBox 6">
            <a:extLst>
              <a:ext uri="{FF2B5EF4-FFF2-40B4-BE49-F238E27FC236}">
                <a16:creationId xmlns:a16="http://schemas.microsoft.com/office/drawing/2014/main" id="{691343C9-D6AA-618A-3853-168E57571C41}"/>
              </a:ext>
            </a:extLst>
          </p:cNvPr>
          <p:cNvSpPr txBox="1"/>
          <p:nvPr/>
        </p:nvSpPr>
        <p:spPr>
          <a:xfrm>
            <a:off x="1499616" y="1746504"/>
            <a:ext cx="6409944" cy="2585323"/>
          </a:xfrm>
          <a:prstGeom prst="rect">
            <a:avLst/>
          </a:prstGeom>
          <a:noFill/>
        </p:spPr>
        <p:txBody>
          <a:bodyPr wrap="square" rtlCol="0">
            <a:spAutoFit/>
          </a:bodyPr>
          <a:lstStyle/>
          <a:p>
            <a:r>
              <a:rPr lang="en-IN" sz="1800" b="1" dirty="0">
                <a:effectLst/>
                <a:latin typeface="Times New Roman" panose="02020603050405020304" pitchFamily="18" charset="0"/>
                <a:ea typeface="Times New Roman" panose="02020603050405020304" pitchFamily="18" charset="0"/>
              </a:rPr>
              <a:t>Develop a web-based online grocery store that allows users to browse, search, and purchase grocery items seamlessly. The platform should be user-friendly, responsive across devices, and provide essential features such as product categorization, cart management, secure checkout, and order tracking. The challenge lies in integrating HTML, CSS, and JavaScript to create a smooth and customizable shopping experience for users.</a:t>
            </a:r>
            <a:endParaRPr lang="en-HK" sz="1800" b="1" dirty="0">
              <a:effectLst/>
              <a:latin typeface="Calibri" panose="020F0502020204030204" pitchFamily="34" charset="0"/>
              <a:ea typeface="Calibri" panose="020F0502020204030204" pitchFamily="34" charset="0"/>
            </a:endParaRPr>
          </a:p>
          <a:p>
            <a:endParaRPr lang="en-HK" dirty="0"/>
          </a:p>
        </p:txBody>
      </p:sp>
    </p:spTree>
    <p:extLst>
      <p:ext uri="{BB962C8B-B14F-4D97-AF65-F5344CB8AC3E}">
        <p14:creationId xmlns:p14="http://schemas.microsoft.com/office/powerpoint/2010/main" val="15004855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15EED-42E9-1982-A22A-AF38891106F3}"/>
              </a:ext>
            </a:extLst>
          </p:cNvPr>
          <p:cNvSpPr>
            <a:spLocks noGrp="1"/>
          </p:cNvSpPr>
          <p:nvPr>
            <p:ph type="title"/>
          </p:nvPr>
        </p:nvSpPr>
        <p:spPr>
          <a:xfrm>
            <a:off x="393746" y="1163782"/>
            <a:ext cx="10058400" cy="655782"/>
          </a:xfrm>
        </p:spPr>
        <p:txBody>
          <a:bodyPr>
            <a:noAutofit/>
          </a:bodyPr>
          <a:lstStyle/>
          <a:p>
            <a:r>
              <a:rPr lang="en-HK" sz="2400" b="1" dirty="0">
                <a:solidFill>
                  <a:schemeClr val="accent2">
                    <a:lumMod val="60000"/>
                    <a:lumOff val="40000"/>
                  </a:schemeClr>
                </a:solidFill>
                <a:effectLst/>
                <a:latin typeface="Times New Roman" panose="02020603050405020304" pitchFamily="18" charset="0"/>
                <a:ea typeface="Times New Roman" panose="02020603050405020304" pitchFamily="18" charset="0"/>
              </a:rPr>
              <a:t>EXISISTING SYSTEM:</a:t>
            </a:r>
            <a:r>
              <a:rPr lang="en-HK" sz="2400" dirty="0">
                <a:solidFill>
                  <a:schemeClr val="accent2">
                    <a:lumMod val="60000"/>
                    <a:lumOff val="40000"/>
                  </a:schemeClr>
                </a:solidFill>
                <a:effectLst/>
                <a:latin typeface="Calibri" panose="020F0502020204030204" pitchFamily="34" charset="0"/>
                <a:ea typeface="Calibri" panose="020F0502020204030204" pitchFamily="34" charset="0"/>
              </a:rPr>
              <a:t/>
            </a:r>
            <a:br>
              <a:rPr lang="en-HK" sz="2400" dirty="0">
                <a:solidFill>
                  <a:schemeClr val="accent2">
                    <a:lumMod val="60000"/>
                    <a:lumOff val="40000"/>
                  </a:schemeClr>
                </a:solidFill>
                <a:effectLst/>
                <a:latin typeface="Calibri" panose="020F0502020204030204" pitchFamily="34" charset="0"/>
                <a:ea typeface="Calibri" panose="020F0502020204030204" pitchFamily="34" charset="0"/>
              </a:rPr>
            </a:br>
            <a:endParaRPr lang="en-HK" sz="2400" dirty="0">
              <a:solidFill>
                <a:schemeClr val="accent2">
                  <a:lumMod val="60000"/>
                  <a:lumOff val="40000"/>
                </a:schemeClr>
              </a:solidFill>
            </a:endParaRPr>
          </a:p>
        </p:txBody>
      </p:sp>
      <p:sp>
        <p:nvSpPr>
          <p:cNvPr id="3" name="Slide Number Placeholder 2">
            <a:extLst>
              <a:ext uri="{FF2B5EF4-FFF2-40B4-BE49-F238E27FC236}">
                <a16:creationId xmlns:a16="http://schemas.microsoft.com/office/drawing/2014/main" id="{1297B71B-37D4-E450-CDED-AEFA89B3BB45}"/>
              </a:ext>
            </a:extLst>
          </p:cNvPr>
          <p:cNvSpPr>
            <a:spLocks noGrp="1"/>
          </p:cNvSpPr>
          <p:nvPr>
            <p:ph type="sldNum" sz="quarter" idx="12"/>
          </p:nvPr>
        </p:nvSpPr>
        <p:spPr/>
        <p:txBody>
          <a:bodyPr/>
          <a:lstStyle/>
          <a:p>
            <a:fld id="{4FAB73BC-B049-4115-A692-8D63A059BFB8}" type="slidenum">
              <a:rPr lang="en-US" smtClean="0"/>
              <a:t>4</a:t>
            </a:fld>
            <a:endParaRPr lang="en-US" dirty="0"/>
          </a:p>
        </p:txBody>
      </p:sp>
      <p:sp>
        <p:nvSpPr>
          <p:cNvPr id="4" name="TextBox 3">
            <a:extLst>
              <a:ext uri="{FF2B5EF4-FFF2-40B4-BE49-F238E27FC236}">
                <a16:creationId xmlns:a16="http://schemas.microsoft.com/office/drawing/2014/main" id="{885BABDD-2C29-5EA0-7667-95EBB72DD065}"/>
              </a:ext>
            </a:extLst>
          </p:cNvPr>
          <p:cNvSpPr txBox="1"/>
          <p:nvPr/>
        </p:nvSpPr>
        <p:spPr>
          <a:xfrm>
            <a:off x="600364" y="1819564"/>
            <a:ext cx="4849091" cy="3948517"/>
          </a:xfrm>
          <a:prstGeom prst="rect">
            <a:avLst/>
          </a:prstGeom>
          <a:noFill/>
        </p:spPr>
        <p:txBody>
          <a:bodyPr wrap="square" rtlCol="0">
            <a:spAutoFit/>
          </a:bodyPr>
          <a:lstStyle/>
          <a:p>
            <a:pPr>
              <a:lnSpc>
                <a:spcPct val="107000"/>
              </a:lnSpc>
              <a:spcAft>
                <a:spcPts val="800"/>
              </a:spcAft>
            </a:pPr>
            <a:r>
              <a:rPr lang="en-HK" b="1" dirty="0">
                <a:effectLst/>
                <a:latin typeface="Times New Roman" panose="02020603050405020304" pitchFamily="18" charset="0"/>
                <a:ea typeface="Times New Roman" panose="02020603050405020304" pitchFamily="18" charset="0"/>
              </a:rPr>
              <a:t>(Traditional Grocery Shopping)</a:t>
            </a:r>
            <a:endParaRPr lang="en-HK"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 pos="498475" algn="l"/>
              </a:tabLst>
            </a:pPr>
            <a:r>
              <a:rPr lang="en-HK" dirty="0">
                <a:effectLst/>
                <a:latin typeface="Times New Roman" panose="02020603050405020304" pitchFamily="18" charset="0"/>
                <a:ea typeface="Times New Roman" panose="02020603050405020304" pitchFamily="18" charset="0"/>
              </a:rPr>
              <a:t>Customers visit physical stores for grocery shopping.</a:t>
            </a:r>
            <a:endParaRPr lang="en-HK"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 pos="498475" algn="l"/>
              </a:tabLst>
            </a:pPr>
            <a:r>
              <a:rPr lang="en-HK" dirty="0">
                <a:effectLst/>
                <a:latin typeface="Times New Roman" panose="02020603050405020304" pitchFamily="18" charset="0"/>
                <a:ea typeface="Times New Roman" panose="02020603050405020304" pitchFamily="18" charset="0"/>
              </a:rPr>
              <a:t>Requires time and effort to search for items.</a:t>
            </a:r>
            <a:endParaRPr lang="en-HK"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 pos="498475" algn="l"/>
              </a:tabLst>
            </a:pPr>
            <a:r>
              <a:rPr lang="en-HK" dirty="0">
                <a:effectLst/>
                <a:latin typeface="Times New Roman" panose="02020603050405020304" pitchFamily="18" charset="0"/>
                <a:ea typeface="Times New Roman" panose="02020603050405020304" pitchFamily="18" charset="0"/>
              </a:rPr>
              <a:t>Prone to product unavailability and long checkout queues.</a:t>
            </a:r>
            <a:endParaRPr lang="en-HK"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 pos="498475" algn="l"/>
              </a:tabLst>
            </a:pPr>
            <a:r>
              <a:rPr lang="en-HK" dirty="0">
                <a:effectLst/>
                <a:latin typeface="Times New Roman" panose="02020603050405020304" pitchFamily="18" charset="0"/>
                <a:ea typeface="Times New Roman" panose="02020603050405020304" pitchFamily="18" charset="0"/>
              </a:rPr>
              <a:t>Limited working hours and geographical constraints.</a:t>
            </a:r>
            <a:endParaRPr lang="en-HK"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SzPts val="1000"/>
              <a:buFont typeface="Symbol" panose="05050102010706020507" pitchFamily="18" charset="2"/>
              <a:buChar char=""/>
              <a:tabLst>
                <a:tab pos="457200" algn="l"/>
                <a:tab pos="498475" algn="l"/>
              </a:tabLst>
            </a:pPr>
            <a:r>
              <a:rPr lang="en-HK" dirty="0">
                <a:effectLst/>
                <a:latin typeface="Times New Roman" panose="02020603050405020304" pitchFamily="18" charset="0"/>
                <a:ea typeface="Times New Roman" panose="02020603050405020304" pitchFamily="18" charset="0"/>
              </a:rPr>
              <a:t>No personalized recommendations or order tracking.</a:t>
            </a:r>
            <a:endParaRPr lang="en-HK" dirty="0">
              <a:effectLst/>
              <a:latin typeface="Calibri" panose="020F0502020204030204" pitchFamily="34" charset="0"/>
              <a:ea typeface="Calibri" panose="020F0502020204030204" pitchFamily="34" charset="0"/>
            </a:endParaRPr>
          </a:p>
          <a:p>
            <a:endParaRPr lang="en-HK" dirty="0"/>
          </a:p>
        </p:txBody>
      </p:sp>
      <p:sp>
        <p:nvSpPr>
          <p:cNvPr id="5" name="TextBox 4">
            <a:extLst>
              <a:ext uri="{FF2B5EF4-FFF2-40B4-BE49-F238E27FC236}">
                <a16:creationId xmlns:a16="http://schemas.microsoft.com/office/drawing/2014/main" id="{990E1E35-6256-5588-ED79-B7A7A04763E5}"/>
              </a:ext>
            </a:extLst>
          </p:cNvPr>
          <p:cNvSpPr txBox="1"/>
          <p:nvPr/>
        </p:nvSpPr>
        <p:spPr>
          <a:xfrm>
            <a:off x="6465455" y="1057969"/>
            <a:ext cx="3472872" cy="738664"/>
          </a:xfrm>
          <a:prstGeom prst="rect">
            <a:avLst/>
          </a:prstGeom>
          <a:noFill/>
        </p:spPr>
        <p:txBody>
          <a:bodyPr wrap="square" rtlCol="0">
            <a:spAutoFit/>
          </a:bodyPr>
          <a:lstStyle/>
          <a:p>
            <a:r>
              <a:rPr lang="en-HK" sz="2400" b="1" dirty="0">
                <a:solidFill>
                  <a:schemeClr val="accent2">
                    <a:lumMod val="60000"/>
                    <a:lumOff val="40000"/>
                  </a:schemeClr>
                </a:solidFill>
                <a:effectLst/>
                <a:latin typeface="Times New Roman" panose="02020603050405020304" pitchFamily="18" charset="0"/>
                <a:ea typeface="Times New Roman" panose="02020603050405020304" pitchFamily="18" charset="0"/>
              </a:rPr>
              <a:t>PROPOSED SYSTEM:</a:t>
            </a:r>
            <a:endParaRPr lang="en-HK" sz="2400" dirty="0">
              <a:solidFill>
                <a:schemeClr val="accent2">
                  <a:lumMod val="60000"/>
                  <a:lumOff val="40000"/>
                </a:schemeClr>
              </a:solidFill>
              <a:effectLst/>
              <a:latin typeface="Calibri" panose="020F0502020204030204" pitchFamily="34" charset="0"/>
              <a:ea typeface="Calibri" panose="020F0502020204030204" pitchFamily="34" charset="0"/>
            </a:endParaRPr>
          </a:p>
          <a:p>
            <a:endParaRPr lang="en-HK" dirty="0"/>
          </a:p>
        </p:txBody>
      </p:sp>
      <p:sp>
        <p:nvSpPr>
          <p:cNvPr id="6" name="TextBox 5">
            <a:extLst>
              <a:ext uri="{FF2B5EF4-FFF2-40B4-BE49-F238E27FC236}">
                <a16:creationId xmlns:a16="http://schemas.microsoft.com/office/drawing/2014/main" id="{996005CD-D23B-F9FB-3DC5-CD3FF7F6D273}"/>
              </a:ext>
            </a:extLst>
          </p:cNvPr>
          <p:cNvSpPr txBox="1"/>
          <p:nvPr/>
        </p:nvSpPr>
        <p:spPr>
          <a:xfrm>
            <a:off x="6234545" y="1699491"/>
            <a:ext cx="4322619" cy="3704604"/>
          </a:xfrm>
          <a:prstGeom prst="rect">
            <a:avLst/>
          </a:prstGeom>
          <a:noFill/>
        </p:spPr>
        <p:txBody>
          <a:bodyPr wrap="square" rtlCol="0">
            <a:spAutoFit/>
          </a:bodyPr>
          <a:lstStyle/>
          <a:p>
            <a:pPr marL="285750" indent="-285750">
              <a:lnSpc>
                <a:spcPct val="107000"/>
              </a:lnSpc>
              <a:spcAft>
                <a:spcPts val="800"/>
              </a:spcAft>
              <a:buFont typeface="Arial" panose="020B0604020202020204" pitchFamily="34" charset="0"/>
              <a:buChar char="•"/>
            </a:pPr>
            <a:r>
              <a:rPr lang="en-HK" sz="1800" dirty="0">
                <a:effectLst/>
                <a:latin typeface="Times New Roman" panose="02020603050405020304" pitchFamily="18" charset="0"/>
                <a:ea typeface="Times New Roman" panose="02020603050405020304" pitchFamily="18" charset="0"/>
              </a:rPr>
              <a:t>Provides a digital platform for customers to browse and buy groceries.</a:t>
            </a:r>
            <a:endParaRPr lang="en-HK" sz="1800" dirty="0">
              <a:effectLst/>
              <a:latin typeface="Calibri" panose="020F0502020204030204" pitchFamily="34" charset="0"/>
              <a:ea typeface="Calibri" panose="020F0502020204030204" pitchFamily="34" charset="0"/>
            </a:endParaRPr>
          </a:p>
          <a:p>
            <a:pPr marL="285750" indent="-285750">
              <a:lnSpc>
                <a:spcPct val="107000"/>
              </a:lnSpc>
              <a:spcAft>
                <a:spcPts val="800"/>
              </a:spcAft>
              <a:buFont typeface="Arial" panose="020B0604020202020204" pitchFamily="34" charset="0"/>
              <a:buChar char="•"/>
            </a:pPr>
            <a:r>
              <a:rPr lang="en-HK" sz="1800" dirty="0">
                <a:effectLst/>
                <a:latin typeface="Times New Roman" panose="02020603050405020304" pitchFamily="18" charset="0"/>
                <a:ea typeface="Times New Roman" panose="02020603050405020304" pitchFamily="18" charset="0"/>
              </a:rPr>
              <a:t> Eliminates the need for physical visits, saving time and effort.</a:t>
            </a:r>
            <a:endParaRPr lang="en-HK" sz="1800" dirty="0">
              <a:effectLst/>
              <a:latin typeface="Calibri" panose="020F0502020204030204" pitchFamily="34" charset="0"/>
              <a:ea typeface="Calibri" panose="020F0502020204030204" pitchFamily="34" charset="0"/>
            </a:endParaRPr>
          </a:p>
          <a:p>
            <a:pPr marL="285750" indent="-285750">
              <a:lnSpc>
                <a:spcPct val="107000"/>
              </a:lnSpc>
              <a:spcAft>
                <a:spcPts val="800"/>
              </a:spcAft>
              <a:buFont typeface="Arial" panose="020B0604020202020204" pitchFamily="34" charset="0"/>
              <a:buChar char="•"/>
            </a:pPr>
            <a:r>
              <a:rPr lang="en-HK" sz="1800" dirty="0">
                <a:effectLst/>
                <a:latin typeface="Times New Roman" panose="02020603050405020304" pitchFamily="18" charset="0"/>
                <a:ea typeface="Times New Roman" panose="02020603050405020304" pitchFamily="18" charset="0"/>
              </a:rPr>
              <a:t>Ensures real-time inventory updates to prevent unavailability issues.</a:t>
            </a:r>
            <a:endParaRPr lang="en-HK" sz="1800" dirty="0">
              <a:effectLst/>
              <a:latin typeface="Calibri" panose="020F0502020204030204" pitchFamily="34" charset="0"/>
              <a:ea typeface="Calibri" panose="020F0502020204030204" pitchFamily="34" charset="0"/>
            </a:endParaRPr>
          </a:p>
          <a:p>
            <a:pPr marL="285750" indent="-285750">
              <a:buFont typeface="Arial" panose="020B0604020202020204" pitchFamily="34" charset="0"/>
              <a:buChar char="•"/>
            </a:pPr>
            <a:r>
              <a:rPr lang="en-HK" sz="1800" dirty="0">
                <a:effectLst/>
                <a:latin typeface="Times New Roman" panose="02020603050405020304" pitchFamily="18" charset="0"/>
                <a:ea typeface="Times New Roman" panose="02020603050405020304" pitchFamily="18" charset="0"/>
              </a:rPr>
              <a:t>Offers home delivery, reducing travel and waiting time</a:t>
            </a:r>
          </a:p>
          <a:p>
            <a:pPr marL="285750" indent="-285750">
              <a:buFont typeface="Arial" panose="020B0604020202020204" pitchFamily="34" charset="0"/>
              <a:buChar char="•"/>
            </a:pPr>
            <a:r>
              <a:rPr lang="en-HK" sz="1800" dirty="0">
                <a:effectLst/>
                <a:latin typeface="Times New Roman" panose="02020603050405020304" pitchFamily="18" charset="0"/>
                <a:ea typeface="Times New Roman" panose="02020603050405020304" pitchFamily="18" charset="0"/>
              </a:rPr>
              <a:t>Provides personalized recommendations and secure payment options.</a:t>
            </a:r>
            <a:endParaRPr lang="en-HK" sz="1800" dirty="0">
              <a:effectLst/>
              <a:latin typeface="Calibri" panose="020F0502020204030204" pitchFamily="34" charset="0"/>
              <a:ea typeface="Calibri" panose="020F0502020204030204" pitchFamily="34" charset="0"/>
            </a:endParaRPr>
          </a:p>
          <a:p>
            <a:endParaRPr lang="en-HK" dirty="0"/>
          </a:p>
        </p:txBody>
      </p:sp>
    </p:spTree>
    <p:extLst>
      <p:ext uri="{BB962C8B-B14F-4D97-AF65-F5344CB8AC3E}">
        <p14:creationId xmlns:p14="http://schemas.microsoft.com/office/powerpoint/2010/main" val="127188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854311"/>
            <a:ext cx="10058400" cy="1609344"/>
          </a:xfrm>
        </p:spPr>
        <p:txBody>
          <a:bodyPr/>
          <a:lstStyle/>
          <a:p>
            <a:r>
              <a:rPr lang="en-US"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Literature </a:t>
            </a:r>
            <a:r>
              <a:rPr lang="en-US" sz="2800" b="1" dirty="0">
                <a:solidFill>
                  <a:schemeClr val="accent2">
                    <a:lumMod val="60000"/>
                    <a:lumOff val="40000"/>
                  </a:schemeClr>
                </a:solidFill>
                <a:latin typeface="Times New Roman" panose="02020603050405020304" pitchFamily="18" charset="0"/>
                <a:cs typeface="Times New Roman" panose="02020603050405020304" pitchFamily="18" charset="0"/>
              </a:rPr>
              <a:t>Review:</a:t>
            </a:r>
            <a:r>
              <a:rPr lang="en-US" dirty="0"/>
              <a:t/>
            </a:r>
            <a:br>
              <a:rPr lang="en-US" dirty="0"/>
            </a:br>
            <a:endParaRPr lang="en-US" dirty="0"/>
          </a:p>
        </p:txBody>
      </p:sp>
      <p:sp>
        <p:nvSpPr>
          <p:cNvPr id="3" name="Slide Number Placeholder 2"/>
          <p:cNvSpPr>
            <a:spLocks noGrp="1"/>
          </p:cNvSpPr>
          <p:nvPr>
            <p:ph type="sldNum" sz="quarter" idx="12"/>
          </p:nvPr>
        </p:nvSpPr>
        <p:spPr/>
        <p:txBody>
          <a:bodyPr/>
          <a:lstStyle/>
          <a:p>
            <a:fld id="{4FAB73BC-B049-4115-A692-8D63A059BFB8}" type="slidenum">
              <a:rPr lang="en-US" smtClean="0"/>
              <a:t>5</a:t>
            </a:fld>
            <a:endParaRPr lang="en-US" dirty="0"/>
          </a:p>
        </p:txBody>
      </p:sp>
      <p:sp>
        <p:nvSpPr>
          <p:cNvPr id="5" name="TextBox 4"/>
          <p:cNvSpPr txBox="1"/>
          <p:nvPr/>
        </p:nvSpPr>
        <p:spPr>
          <a:xfrm>
            <a:off x="1162595" y="1658983"/>
            <a:ext cx="9313816" cy="369331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rise of online grocery shopping has been a significant trend in recent years, driven by technological advancements, shifting consumer preferences, and the increasing demand for convenience. This literature review aims to provide a comprehensive overview of existing research on online grocery stores, examining various facets such as consumer behavior, business models, technological innovations, challenges, and the impact of online grocery shopping on the traditional retail market.</a:t>
            </a:r>
          </a:p>
          <a:p>
            <a:r>
              <a:rPr lang="en-HK" b="1" dirty="0">
                <a:latin typeface="Times New Roman" panose="02020603050405020304" pitchFamily="18" charset="0"/>
                <a:cs typeface="Times New Roman" panose="02020603050405020304" pitchFamily="18" charset="0"/>
              </a:rPr>
              <a:t>1. Consumer </a:t>
            </a:r>
            <a:r>
              <a:rPr lang="en-HK" b="1" dirty="0" err="1">
                <a:latin typeface="Times New Roman" panose="02020603050405020304" pitchFamily="18" charset="0"/>
                <a:cs typeface="Times New Roman" panose="02020603050405020304" pitchFamily="18" charset="0"/>
              </a:rPr>
              <a:t>Behavior</a:t>
            </a:r>
            <a:r>
              <a:rPr lang="en-HK" b="1" dirty="0">
                <a:latin typeface="Times New Roman" panose="02020603050405020304" pitchFamily="18" charset="0"/>
                <a:cs typeface="Times New Roman" panose="02020603050405020304" pitchFamily="18" charset="0"/>
              </a:rPr>
              <a:t> and Preferences</a:t>
            </a:r>
            <a:endParaRPr lang="en-US" dirty="0">
              <a:latin typeface="Times New Roman" panose="02020603050405020304" pitchFamily="18" charset="0"/>
              <a:cs typeface="Times New Roman" panose="02020603050405020304" pitchFamily="18" charset="0"/>
            </a:endParaRPr>
          </a:p>
          <a:p>
            <a:r>
              <a:rPr lang="en-HK" dirty="0">
                <a:latin typeface="Times New Roman" panose="02020603050405020304" pitchFamily="18" charset="0"/>
                <a:cs typeface="Times New Roman" panose="02020603050405020304" pitchFamily="18" charset="0"/>
              </a:rPr>
              <a:t>Studies indicate that convenience is the primary motivator for consumers to shop for groceries online. According to a study by </a:t>
            </a:r>
            <a:r>
              <a:rPr lang="en-HK" b="1" dirty="0">
                <a:latin typeface="Times New Roman" panose="02020603050405020304" pitchFamily="18" charset="0"/>
                <a:cs typeface="Times New Roman" panose="02020603050405020304" pitchFamily="18" charset="0"/>
              </a:rPr>
              <a:t>Kumar et al. (2020)</a:t>
            </a:r>
            <a:r>
              <a:rPr lang="en-HK" dirty="0">
                <a:latin typeface="Times New Roman" panose="02020603050405020304" pitchFamily="18" charset="0"/>
                <a:cs typeface="Times New Roman" panose="02020603050405020304" pitchFamily="18" charset="0"/>
              </a:rPr>
              <a:t>, time-saving, avoiding long queues, and the ability to shop from home are key factors that influence consumer adoption of online grocery shopping. Moreover, </a:t>
            </a:r>
            <a:r>
              <a:rPr lang="en-HK" b="1" dirty="0">
                <a:latin typeface="Times New Roman" panose="02020603050405020304" pitchFamily="18" charset="0"/>
                <a:cs typeface="Times New Roman" panose="02020603050405020304" pitchFamily="18" charset="0"/>
              </a:rPr>
              <a:t>Sharma et al. (2019)</a:t>
            </a:r>
            <a:r>
              <a:rPr lang="en-HK" dirty="0">
                <a:latin typeface="Times New Roman" panose="02020603050405020304" pitchFamily="18" charset="0"/>
                <a:cs typeface="Times New Roman" panose="02020603050405020304" pitchFamily="18" charset="0"/>
              </a:rPr>
              <a:t> highlight the increasing preference for online platforms due to factors like personalized recommendations and the availability of a wider variety of products compared to physical stores.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47812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607496"/>
            <a:ext cx="10058400" cy="1609344"/>
          </a:xfrm>
        </p:spPr>
        <p:txBody>
          <a:bodyPr/>
          <a:lstStyle/>
          <a:p>
            <a:pPr lvl="0"/>
            <a:r>
              <a:rPr lang="en-US"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System </a:t>
            </a:r>
            <a:r>
              <a:rPr lang="en-US" sz="2800" b="1" dirty="0">
                <a:solidFill>
                  <a:schemeClr val="accent2">
                    <a:lumMod val="60000"/>
                    <a:lumOff val="40000"/>
                  </a:schemeClr>
                </a:solidFill>
                <a:latin typeface="Times New Roman" panose="02020603050405020304" pitchFamily="18" charset="0"/>
                <a:cs typeface="Times New Roman" panose="02020603050405020304" pitchFamily="18" charset="0"/>
              </a:rPr>
              <a:t>Requirements:</a:t>
            </a:r>
            <a:r>
              <a:rPr lang="en-US" dirty="0"/>
              <a:t/>
            </a:r>
            <a:br>
              <a:rPr lang="en-US" dirty="0"/>
            </a:br>
            <a:endParaRPr lang="en-US" dirty="0"/>
          </a:p>
        </p:txBody>
      </p:sp>
      <p:sp>
        <p:nvSpPr>
          <p:cNvPr id="3" name="Slide Number Placeholder 2"/>
          <p:cNvSpPr>
            <a:spLocks noGrp="1"/>
          </p:cNvSpPr>
          <p:nvPr>
            <p:ph type="sldNum" sz="quarter" idx="12"/>
          </p:nvPr>
        </p:nvSpPr>
        <p:spPr/>
        <p:txBody>
          <a:bodyPr/>
          <a:lstStyle/>
          <a:p>
            <a:fld id="{4FAB73BC-B049-4115-A692-8D63A059BFB8}" type="slidenum">
              <a:rPr lang="en-US" smtClean="0"/>
              <a:t>6</a:t>
            </a:fld>
            <a:endParaRPr lang="en-US" dirty="0"/>
          </a:p>
        </p:txBody>
      </p:sp>
      <p:sp>
        <p:nvSpPr>
          <p:cNvPr id="4" name="TextBox 3"/>
          <p:cNvSpPr txBox="1"/>
          <p:nvPr/>
        </p:nvSpPr>
        <p:spPr>
          <a:xfrm>
            <a:off x="1042415" y="1412167"/>
            <a:ext cx="5056633" cy="3416320"/>
          </a:xfrm>
          <a:prstGeom prst="rect">
            <a:avLst/>
          </a:prstGeom>
          <a:noFill/>
        </p:spPr>
        <p:txBody>
          <a:bodyPr wrap="square" rtlCol="0">
            <a:spAutoFit/>
          </a:bodyPr>
          <a:lstStyle/>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Frontend:</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HTML, CSS, JavaScript </a:t>
            </a:r>
          </a:p>
          <a:p>
            <a:r>
              <a:rPr lang="en-US" dirty="0">
                <a:latin typeface="Times New Roman" panose="02020603050405020304" pitchFamily="18" charset="0"/>
                <a:cs typeface="Times New Roman" panose="02020603050405020304" pitchFamily="18" charset="0"/>
              </a:rPr>
              <a:t>     UI Design (</a:t>
            </a:r>
            <a:r>
              <a:rPr lang="en-US" dirty="0" err="1">
                <a:latin typeface="Times New Roman" panose="02020603050405020304" pitchFamily="18" charset="0"/>
                <a:cs typeface="Times New Roman" panose="02020603050405020304" pitchFamily="18" charset="0"/>
              </a:rPr>
              <a:t>Figma</a:t>
            </a:r>
            <a:r>
              <a:rPr lang="en-US" dirty="0">
                <a:latin typeface="Times New Roman" panose="02020603050405020304" pitchFamily="18" charset="0"/>
                <a:cs typeface="Times New Roman" panose="02020603050405020304" pitchFamily="18" charset="0"/>
              </a:rPr>
              <a:t>, Sketch)</a:t>
            </a:r>
          </a:p>
          <a:p>
            <a:r>
              <a:rPr lang="en-US" dirty="0">
                <a:latin typeface="Times New Roman" panose="02020603050405020304" pitchFamily="18" charset="0"/>
                <a:cs typeface="Times New Roman" panose="02020603050405020304" pitchFamily="18" charset="0"/>
              </a:rPr>
              <a:t>     Responsive (Bootstrap)</a:t>
            </a: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Backend:</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Languages </a:t>
            </a:r>
            <a:r>
              <a:rPr lang="en-US" dirty="0">
                <a:latin typeface="Times New Roman" panose="02020603050405020304" pitchFamily="18" charset="0"/>
                <a:cs typeface="Times New Roman" panose="02020603050405020304" pitchFamily="18" charset="0"/>
              </a:rPr>
              <a:t>(Python, PHP, Node.js, Java)</a:t>
            </a:r>
          </a:p>
          <a:p>
            <a:r>
              <a:rPr lang="en-US" dirty="0" smtClean="0">
                <a:latin typeface="Times New Roman" panose="02020603050405020304" pitchFamily="18" charset="0"/>
                <a:cs typeface="Times New Roman" panose="02020603050405020304" pitchFamily="18" charset="0"/>
              </a:rPr>
              <a:t>     Databases </a:t>
            </a:r>
            <a:r>
              <a:rPr lang="en-US" dirty="0">
                <a:latin typeface="Times New Roman" panose="02020603050405020304" pitchFamily="18" charset="0"/>
                <a:cs typeface="Times New Roman" panose="02020603050405020304" pitchFamily="18" charset="0"/>
              </a:rPr>
              <a:t>(MySQL, PostgreSQL, MongoDB)</a:t>
            </a:r>
          </a:p>
          <a:p>
            <a:r>
              <a:rPr lang="en-US" dirty="0" smtClean="0">
                <a:latin typeface="Times New Roman" panose="02020603050405020304" pitchFamily="18" charset="0"/>
                <a:cs typeface="Times New Roman" panose="02020603050405020304" pitchFamily="18" charset="0"/>
              </a:rPr>
              <a:t>     Server </a:t>
            </a:r>
            <a:r>
              <a:rPr lang="en-US" dirty="0">
                <a:latin typeface="Times New Roman" panose="02020603050405020304" pitchFamily="18" charset="0"/>
                <a:cs typeface="Times New Roman" panose="02020603050405020304" pitchFamily="18" charset="0"/>
              </a:rPr>
              <a:t>(Apache, Nginx)</a:t>
            </a: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Payment Gateway:</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Stripe</a:t>
            </a:r>
            <a:r>
              <a:rPr lang="en-US" dirty="0">
                <a:latin typeface="Times New Roman" panose="02020603050405020304" pitchFamily="18" charset="0"/>
                <a:cs typeface="Times New Roman" panose="02020603050405020304" pitchFamily="18" charset="0"/>
              </a:rPr>
              <a:t>, PayPal, </a:t>
            </a:r>
            <a:r>
              <a:rPr lang="en-US" dirty="0" err="1">
                <a:latin typeface="Times New Roman" panose="02020603050405020304" pitchFamily="18" charset="0"/>
                <a:cs typeface="Times New Roman" panose="02020603050405020304" pitchFamily="18" charset="0"/>
              </a:rPr>
              <a:t>Razorpay</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Security:</a:t>
            </a:r>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SSL</a:t>
            </a:r>
            <a:r>
              <a:rPr lang="en-US" dirty="0">
                <a:latin typeface="Times New Roman" panose="02020603050405020304" pitchFamily="18" charset="0"/>
                <a:cs typeface="Times New Roman" panose="02020603050405020304" pitchFamily="18" charset="0"/>
              </a:rPr>
              <a:t>, 2FA, Encryption</a:t>
            </a:r>
          </a:p>
        </p:txBody>
      </p:sp>
      <p:sp>
        <p:nvSpPr>
          <p:cNvPr id="5" name="TextBox 4"/>
          <p:cNvSpPr txBox="1"/>
          <p:nvPr/>
        </p:nvSpPr>
        <p:spPr>
          <a:xfrm>
            <a:off x="6659444" y="1412167"/>
            <a:ext cx="4651684" cy="4555093"/>
          </a:xfrm>
          <a:prstGeom prst="rect">
            <a:avLst/>
          </a:prstGeom>
          <a:noFill/>
        </p:spPr>
        <p:txBody>
          <a:bodyPr wrap="square" rtlCol="0">
            <a:spAutoFit/>
          </a:bodyPr>
          <a:lstStyle/>
          <a:p>
            <a:pPr marL="457200" indent="-457200">
              <a:buFont typeface="Wingdings" panose="05000000000000000000" pitchFamily="2" charset="2"/>
              <a:buChar char="Ø"/>
            </a:pPr>
            <a:r>
              <a:rPr lang="en-US" sz="2800" b="1" dirty="0">
                <a:solidFill>
                  <a:schemeClr val="accent2">
                    <a:lumMod val="60000"/>
                    <a:lumOff val="40000"/>
                  </a:schemeClr>
                </a:solidFill>
                <a:latin typeface="Times New Roman" panose="02020603050405020304" pitchFamily="18" charset="0"/>
                <a:cs typeface="Times New Roman" panose="02020603050405020304" pitchFamily="18" charset="0"/>
              </a:rPr>
              <a:t>Hardware &amp; Software Requirements</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Hardware</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Web Servers</a:t>
            </a:r>
            <a:r>
              <a:rPr lang="en-US" dirty="0">
                <a:latin typeface="Times New Roman" panose="02020603050405020304" pitchFamily="18" charset="0"/>
                <a:cs typeface="Times New Roman" panose="02020603050405020304" pitchFamily="18" charset="0"/>
              </a:rPr>
              <a:t> – To host the website and handle incoming traffic.</a:t>
            </a: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Database Servers</a:t>
            </a:r>
            <a:r>
              <a:rPr lang="en-US" dirty="0">
                <a:latin typeface="Times New Roman" panose="02020603050405020304" pitchFamily="18" charset="0"/>
                <a:cs typeface="Times New Roman" panose="02020603050405020304" pitchFamily="18" charset="0"/>
              </a:rPr>
              <a:t> – For storing and managing product data, customer information, orders, etc.</a:t>
            </a: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Storage</a:t>
            </a:r>
            <a:r>
              <a:rPr lang="en-US" dirty="0">
                <a:latin typeface="Times New Roman" panose="02020603050405020304" pitchFamily="18" charset="0"/>
                <a:cs typeface="Times New Roman" panose="02020603050405020304" pitchFamily="18" charset="0"/>
              </a:rPr>
              <a:t> – Sufficient storage for product images, videos, and backups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t> </a:t>
            </a:r>
            <a:r>
              <a:rPr lang="en-US" b="1" dirty="0">
                <a:latin typeface="Times New Roman" panose="02020603050405020304" pitchFamily="18" charset="0"/>
                <a:cs typeface="Times New Roman" panose="02020603050405020304" pitchFamily="18" charset="0"/>
              </a:rPr>
              <a:t>Backup Systems</a:t>
            </a:r>
            <a:r>
              <a:rPr lang="en-US" dirty="0">
                <a:latin typeface="Times New Roman" panose="02020603050405020304" pitchFamily="18" charset="0"/>
                <a:cs typeface="Times New Roman" panose="02020603050405020304" pitchFamily="18" charset="0"/>
              </a:rPr>
              <a:t> – To ensure data redundancy and protection against data loss.</a:t>
            </a:r>
          </a:p>
          <a:p>
            <a:pPr marL="285750" lvl="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Load Balancers</a:t>
            </a:r>
            <a:r>
              <a:rPr lang="en-US" dirty="0">
                <a:latin typeface="Times New Roman" panose="02020603050405020304" pitchFamily="18" charset="0"/>
                <a:cs typeface="Times New Roman" panose="02020603050405020304" pitchFamily="18" charset="0"/>
              </a:rPr>
              <a:t> – To distribute traffic efficiently across multiple servers.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4832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7</a:t>
            </a:fld>
            <a:endParaRPr lang="en-US" dirty="0"/>
          </a:p>
        </p:txBody>
      </p:sp>
      <p:sp>
        <p:nvSpPr>
          <p:cNvPr id="5" name="TextBox 4"/>
          <p:cNvSpPr txBox="1"/>
          <p:nvPr/>
        </p:nvSpPr>
        <p:spPr>
          <a:xfrm>
            <a:off x="239488" y="1643649"/>
            <a:ext cx="5551716" cy="4524315"/>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Introduction</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Purpose</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This document outlines the software requirements for an e-commerce website, focusing on user-friendly shopping, secure transactions, and efficient management.</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a:t>
            </a:r>
            <a:r>
              <a:rPr lang="en-IN" b="1" dirty="0">
                <a:latin typeface="Times New Roman" panose="02020603050405020304" pitchFamily="18" charset="0"/>
                <a:cs typeface="Times New Roman" panose="02020603050405020304" pitchFamily="18" charset="0"/>
              </a:rPr>
              <a:t> Overall Description</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Product Functions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User Management: </a:t>
            </a:r>
            <a:r>
              <a:rPr lang="en-IN" dirty="0">
                <a:latin typeface="Times New Roman" panose="02020603050405020304" pitchFamily="18" charset="0"/>
                <a:cs typeface="Times New Roman" panose="02020603050405020304" pitchFamily="18" charset="0"/>
              </a:rPr>
              <a:t>Registration, login, profile management.</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Product Management:</a:t>
            </a:r>
            <a:r>
              <a:rPr lang="en-IN" dirty="0">
                <a:latin typeface="Times New Roman" panose="02020603050405020304" pitchFamily="18" charset="0"/>
                <a:cs typeface="Times New Roman" panose="02020603050405020304" pitchFamily="18" charset="0"/>
              </a:rPr>
              <a:t> Browse, search, filter products.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Shopping Cart: </a:t>
            </a:r>
            <a:r>
              <a:rPr lang="en-IN" dirty="0">
                <a:latin typeface="Times New Roman" panose="02020603050405020304" pitchFamily="18" charset="0"/>
                <a:cs typeface="Times New Roman" panose="02020603050405020304" pitchFamily="18" charset="0"/>
              </a:rPr>
              <a:t>Add/remove items, update quantities.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Order Management:</a:t>
            </a:r>
            <a:r>
              <a:rPr lang="en-IN" dirty="0">
                <a:latin typeface="Times New Roman" panose="02020603050405020304" pitchFamily="18" charset="0"/>
                <a:cs typeface="Times New Roman" panose="02020603050405020304" pitchFamily="18" charset="0"/>
              </a:rPr>
              <a:t> Checkout, order tracking.</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Payment Integration:</a:t>
            </a:r>
            <a:r>
              <a:rPr lang="en-IN" dirty="0">
                <a:latin typeface="Times New Roman" panose="02020603050405020304" pitchFamily="18" charset="0"/>
                <a:cs typeface="Times New Roman" panose="02020603050405020304" pitchFamily="18" charset="0"/>
              </a:rPr>
              <a:t> Support multiple payment methods.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Admin Dashboard:</a:t>
            </a:r>
            <a:r>
              <a:rPr lang="en-IN" dirty="0">
                <a:latin typeface="Times New Roman" panose="02020603050405020304" pitchFamily="18" charset="0"/>
                <a:cs typeface="Times New Roman" panose="02020603050405020304" pitchFamily="18" charset="0"/>
              </a:rPr>
              <a:t> Manage products, users, and orders.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39488" y="569663"/>
            <a:ext cx="11643359" cy="954107"/>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a:solidFill>
                  <a:schemeClr val="accent2">
                    <a:lumMod val="60000"/>
                    <a:lumOff val="40000"/>
                  </a:schemeClr>
                </a:solidFill>
                <a:latin typeface="Times New Roman" panose="02020603050405020304" pitchFamily="18" charset="0"/>
                <a:cs typeface="Times New Roman" panose="02020603050405020304" pitchFamily="18" charset="0"/>
              </a:rPr>
              <a:t>Short Software Requirements Specification (SRS) for E-Commerce Website</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6191794" y="1602530"/>
            <a:ext cx="5586550" cy="424731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Constraints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Comply with GDPR and PCI DSS.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Support up to 10,000 concurrent users.</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3.</a:t>
            </a:r>
            <a:r>
              <a:rPr lang="en-IN" b="1" dirty="0">
                <a:latin typeface="Times New Roman" panose="02020603050405020304" pitchFamily="18" charset="0"/>
                <a:cs typeface="Times New Roman" panose="02020603050405020304" pitchFamily="18" charset="0"/>
              </a:rPr>
              <a:t> Specific Requirements</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Functional Requirements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Secure user authentication.</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Product search and filters by category, price, and ratings.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Smooth checkout with order confirmation.</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Non-Functional Requirements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Load pages within 2 seconds.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Ensure 99.9% uptime.</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Use SSL for secure data transmission.</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4.</a:t>
            </a:r>
            <a:r>
              <a:rPr lang="en-IN" b="1" dirty="0">
                <a:latin typeface="Times New Roman" panose="02020603050405020304" pitchFamily="18" charset="0"/>
                <a:cs typeface="Times New Roman" panose="02020603050405020304" pitchFamily="18" charset="0"/>
              </a:rPr>
              <a:t> External Interfaces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User-friendly, responsive UI.</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Integrate with payment gateways (e.g., Stripe, PayPal).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0395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8</a:t>
            </a:fld>
            <a:endParaRPr lang="en-US" dirty="0"/>
          </a:p>
        </p:txBody>
      </p:sp>
      <p:sp>
        <p:nvSpPr>
          <p:cNvPr id="4" name="TextBox 3"/>
          <p:cNvSpPr txBox="1"/>
          <p:nvPr/>
        </p:nvSpPr>
        <p:spPr>
          <a:xfrm>
            <a:off x="875211" y="365760"/>
            <a:ext cx="5630092" cy="954107"/>
          </a:xfrm>
          <a:prstGeom prst="rect">
            <a:avLst/>
          </a:prstGeom>
          <a:noFill/>
        </p:spPr>
        <p:txBody>
          <a:bodyPr wrap="square" rtlCol="0">
            <a:spAutoFit/>
          </a:bodyPr>
          <a:lstStyle/>
          <a:p>
            <a:pPr lvl="0"/>
            <a:r>
              <a:rPr lang="en-IN"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System </a:t>
            </a:r>
            <a:r>
              <a:rPr lang="en-IN" sz="2800" b="1" dirty="0">
                <a:solidFill>
                  <a:schemeClr val="accent2">
                    <a:lumMod val="60000"/>
                    <a:lumOff val="40000"/>
                  </a:schemeClr>
                </a:solidFill>
                <a:latin typeface="Times New Roman" panose="02020603050405020304" pitchFamily="18" charset="0"/>
                <a:cs typeface="Times New Roman" panose="02020603050405020304" pitchFamily="18" charset="0"/>
              </a:rPr>
              <a:t>Designs</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875211" y="948291"/>
            <a:ext cx="4585062" cy="4801314"/>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Architecture</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Built using React or Angular for a responsive and interactive user interface.</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Node.js or Django for handling business logic and API integration.</a:t>
            </a:r>
            <a:endParaRPr lang="en-US" dirty="0">
              <a:latin typeface="Times New Roman" panose="02020603050405020304" pitchFamily="18" charset="0"/>
              <a:cs typeface="Times New Roman" panose="02020603050405020304" pitchFamily="18" charset="0"/>
            </a:endParaRPr>
          </a:p>
          <a:p>
            <a:pPr lvl="0"/>
            <a:r>
              <a:rPr lang="en-IN" b="1" dirty="0" err="1" smtClean="0">
                <a:latin typeface="Times New Roman" panose="02020603050405020304" pitchFamily="18" charset="0"/>
                <a:cs typeface="Times New Roman" panose="02020603050405020304" pitchFamily="18" charset="0"/>
              </a:rPr>
              <a:t>Database</a:t>
            </a:r>
            <a:r>
              <a:rPr lang="en-IN" dirty="0" err="1" smtClean="0">
                <a:latin typeface="Times New Roman" panose="02020603050405020304" pitchFamily="18" charset="0"/>
                <a:cs typeface="Times New Roman" panose="02020603050405020304" pitchFamily="18" charset="0"/>
              </a:rPr>
              <a:t>:Relational</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(MySQL/PostgreSQL) for structured data (products, orders, users</a:t>
            </a:r>
            <a:r>
              <a:rPr lang="en-IN" dirty="0" smtClean="0">
                <a:latin typeface="Times New Roman" panose="02020603050405020304" pitchFamily="18" charset="0"/>
                <a:cs typeface="Times New Roman" panose="02020603050405020304" pitchFamily="18" charset="0"/>
              </a:rPr>
              <a:t>).NoSQL </a:t>
            </a:r>
            <a:r>
              <a:rPr lang="en-IN" dirty="0">
                <a:latin typeface="Times New Roman" panose="02020603050405020304" pitchFamily="18" charset="0"/>
                <a:cs typeface="Times New Roman" panose="02020603050405020304" pitchFamily="18" charset="0"/>
              </a:rPr>
              <a:t>(MongoDB) for unstructured data (logs, analytics).</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Hosting</a:t>
            </a:r>
            <a:r>
              <a:rPr lang="en-IN" dirty="0">
                <a:latin typeface="Times New Roman" panose="02020603050405020304" pitchFamily="18" charset="0"/>
                <a:cs typeface="Times New Roman" panose="02020603050405020304" pitchFamily="18" charset="0"/>
              </a:rPr>
              <a:t>: Cloud-based (AWS, Azure) with auto-scaling and load balancing.</a:t>
            </a:r>
            <a:endParaRPr lang="en-US"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Key Components</a:t>
            </a:r>
            <a:endParaRPr lang="en-US" dirty="0">
              <a:latin typeface="Times New Roman" panose="02020603050405020304" pitchFamily="18" charset="0"/>
              <a:cs typeface="Times New Roman" panose="02020603050405020304" pitchFamily="18" charset="0"/>
            </a:endParaRPr>
          </a:p>
          <a:p>
            <a:pPr lvl="1"/>
            <a:r>
              <a:rPr lang="en-IN" b="1" dirty="0">
                <a:latin typeface="Times New Roman" panose="02020603050405020304" pitchFamily="18" charset="0"/>
                <a:cs typeface="Times New Roman" panose="02020603050405020304" pitchFamily="18" charset="0"/>
              </a:rPr>
              <a:t>User Management</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Authentication via JWT or OAuth.</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Secure password storage using hashing (e.g., </a:t>
            </a:r>
            <a:r>
              <a:rPr lang="en-IN" dirty="0" err="1">
                <a:latin typeface="Times New Roman" panose="02020603050405020304" pitchFamily="18" charset="0"/>
                <a:cs typeface="Times New Roman" panose="02020603050405020304" pitchFamily="18" charset="0"/>
              </a:rPr>
              <a:t>bcrypt</a:t>
            </a:r>
            <a:r>
              <a:rPr lang="en-IN"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995850" y="928438"/>
            <a:ext cx="5472031" cy="5355312"/>
          </a:xfrm>
          <a:prstGeom prst="rect">
            <a:avLst/>
          </a:prstGeom>
          <a:noFill/>
        </p:spPr>
        <p:txBody>
          <a:bodyPr wrap="square" rtlCol="0">
            <a:spAutoFit/>
          </a:bodyPr>
          <a:lstStyle/>
          <a:p>
            <a:pPr lvl="1"/>
            <a:r>
              <a:rPr lang="en-IN" b="1" dirty="0">
                <a:latin typeface="Times New Roman" panose="02020603050405020304" pitchFamily="18" charset="0"/>
                <a:cs typeface="Times New Roman" panose="02020603050405020304" pitchFamily="18" charset="0"/>
              </a:rPr>
              <a:t>Product Management</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Product </a:t>
            </a:r>
            <a:r>
              <a:rPr lang="en-IN" dirty="0" err="1">
                <a:latin typeface="Times New Roman" panose="02020603050405020304" pitchFamily="18" charset="0"/>
                <a:cs typeface="Times New Roman" panose="02020603050405020304" pitchFamily="18" charset="0"/>
              </a:rPr>
              <a:t>catalog</a:t>
            </a:r>
            <a:r>
              <a:rPr lang="en-IN" dirty="0">
                <a:latin typeface="Times New Roman" panose="02020603050405020304" pitchFamily="18" charset="0"/>
                <a:cs typeface="Times New Roman" panose="02020603050405020304" pitchFamily="18" charset="0"/>
              </a:rPr>
              <a:t> stored in the database with indexing for search.</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Search and filter features implemented using </a:t>
            </a:r>
            <a:r>
              <a:rPr lang="en-IN" dirty="0" err="1" smtClean="0">
                <a:latin typeface="Times New Roman" panose="02020603050405020304" pitchFamily="18" charset="0"/>
                <a:cs typeface="Times New Roman" panose="02020603050405020304" pitchFamily="18" charset="0"/>
              </a:rPr>
              <a:t>Elasticsearch</a:t>
            </a:r>
            <a:endParaRPr lang="en-IN" dirty="0" smtClean="0">
              <a:latin typeface="Times New Roman" panose="02020603050405020304" pitchFamily="18" charset="0"/>
              <a:cs typeface="Times New Roman" panose="02020603050405020304" pitchFamily="18" charset="0"/>
            </a:endParaRPr>
          </a:p>
          <a:p>
            <a:pPr lvl="0"/>
            <a:r>
              <a:rPr lang="en-IN" b="1" dirty="0" smtClean="0">
                <a:latin typeface="Times New Roman" panose="02020603050405020304" pitchFamily="18" charset="0"/>
                <a:cs typeface="Times New Roman" panose="02020603050405020304" pitchFamily="18" charset="0"/>
              </a:rPr>
              <a:t>Shopping </a:t>
            </a:r>
            <a:r>
              <a:rPr lang="en-IN" b="1" dirty="0">
                <a:latin typeface="Times New Roman" panose="02020603050405020304" pitchFamily="18" charset="0"/>
                <a:cs typeface="Times New Roman" panose="02020603050405020304" pitchFamily="18" charset="0"/>
              </a:rPr>
              <a:t>Cart</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Session-based cart for guests.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Persistent cart for logged-in users using database </a:t>
            </a:r>
            <a:r>
              <a:rPr lang="en-IN" dirty="0" smtClean="0">
                <a:latin typeface="Times New Roman" panose="02020603050405020304" pitchFamily="18" charset="0"/>
                <a:cs typeface="Times New Roman" panose="02020603050405020304" pitchFamily="18" charset="0"/>
              </a:rPr>
              <a:t>storage.</a:t>
            </a:r>
            <a:endParaRPr lang="en-US" dirty="0">
              <a:latin typeface="Times New Roman" panose="02020603050405020304" pitchFamily="18" charset="0"/>
              <a:cs typeface="Times New Roman" panose="02020603050405020304" pitchFamily="18" charset="0"/>
            </a:endParaRPr>
          </a:p>
          <a:p>
            <a:pPr lvl="0"/>
            <a:r>
              <a:rPr lang="en-IN" b="1" dirty="0" smtClean="0">
                <a:latin typeface="Times New Roman" panose="02020603050405020304" pitchFamily="18" charset="0"/>
                <a:cs typeface="Times New Roman" panose="02020603050405020304" pitchFamily="18" charset="0"/>
              </a:rPr>
              <a:t>Order </a:t>
            </a:r>
            <a:r>
              <a:rPr lang="en-IN" b="1" dirty="0">
                <a:latin typeface="Times New Roman" panose="02020603050405020304" pitchFamily="18" charset="0"/>
                <a:cs typeface="Times New Roman" panose="02020603050405020304" pitchFamily="18" charset="0"/>
              </a:rPr>
              <a:t>Management</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Multi-step checkout process.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Order tracking with status </a:t>
            </a:r>
            <a:r>
              <a:rPr lang="en-IN" dirty="0" smtClean="0">
                <a:latin typeface="Times New Roman" panose="02020603050405020304" pitchFamily="18" charset="0"/>
                <a:cs typeface="Times New Roman" panose="02020603050405020304" pitchFamily="18" charset="0"/>
              </a:rPr>
              <a:t>updates.</a:t>
            </a:r>
            <a:endParaRPr lang="en-US" dirty="0">
              <a:latin typeface="Times New Roman" panose="02020603050405020304" pitchFamily="18" charset="0"/>
              <a:cs typeface="Times New Roman" panose="02020603050405020304" pitchFamily="18" charset="0"/>
            </a:endParaRPr>
          </a:p>
          <a:p>
            <a:pPr lvl="0"/>
            <a:r>
              <a:rPr lang="en-IN" b="1" dirty="0" smtClean="0">
                <a:latin typeface="Times New Roman" panose="02020603050405020304" pitchFamily="18" charset="0"/>
                <a:cs typeface="Times New Roman" panose="02020603050405020304" pitchFamily="18" charset="0"/>
              </a:rPr>
              <a:t>Payment </a:t>
            </a:r>
            <a:r>
              <a:rPr lang="en-IN" b="1" dirty="0">
                <a:latin typeface="Times New Roman" panose="02020603050405020304" pitchFamily="18" charset="0"/>
                <a:cs typeface="Times New Roman" panose="02020603050405020304" pitchFamily="18" charset="0"/>
              </a:rPr>
              <a:t>Gateway</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Integration with Stripe, PayPal, or </a:t>
            </a:r>
            <a:r>
              <a:rPr lang="en-IN" dirty="0" err="1">
                <a:latin typeface="Times New Roman" panose="02020603050405020304" pitchFamily="18" charset="0"/>
                <a:cs typeface="Times New Roman" panose="02020603050405020304" pitchFamily="18" charset="0"/>
              </a:rPr>
              <a:t>Razorpay</a:t>
            </a:r>
            <a:r>
              <a:rPr lang="en-IN" dirty="0">
                <a:latin typeface="Times New Roman" panose="02020603050405020304" pitchFamily="18" charset="0"/>
                <a:cs typeface="Times New Roman" panose="02020603050405020304" pitchFamily="18" charset="0"/>
              </a:rPr>
              <a:t> for secure </a:t>
            </a:r>
            <a:r>
              <a:rPr lang="en-IN" dirty="0" smtClean="0">
                <a:latin typeface="Times New Roman" panose="02020603050405020304" pitchFamily="18" charset="0"/>
                <a:cs typeface="Times New Roman" panose="02020603050405020304" pitchFamily="18" charset="0"/>
              </a:rPr>
              <a:t>transactions</a:t>
            </a:r>
          </a:p>
          <a:p>
            <a:pPr marL="285750" lvl="0" indent="-285750">
              <a:buFont typeface="Arial" panose="020B0604020202020204" pitchFamily="34" charset="0"/>
              <a:buChar char="•"/>
            </a:pPr>
            <a:r>
              <a:rPr lang="en-IN" b="1" dirty="0" smtClean="0">
                <a:latin typeface="Times New Roman" panose="02020603050405020304" pitchFamily="18" charset="0"/>
                <a:cs typeface="Times New Roman" panose="02020603050405020304" pitchFamily="18" charset="0"/>
              </a:rPr>
              <a:t>Admin </a:t>
            </a:r>
            <a:r>
              <a:rPr lang="en-IN" b="1" dirty="0">
                <a:latin typeface="Times New Roman" panose="02020603050405020304" pitchFamily="18" charset="0"/>
                <a:cs typeface="Times New Roman" panose="02020603050405020304" pitchFamily="18" charset="0"/>
              </a:rPr>
              <a:t>Panel</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Dashboard for managing products, orders, and users.</a:t>
            </a:r>
            <a:endParaRPr lang="en-US"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Analytics visualization using libraries like Chart.js or D3.js.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2964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9</a:t>
            </a:fld>
            <a:endParaRPr lang="en-US" dirty="0"/>
          </a:p>
        </p:txBody>
      </p:sp>
      <p:sp>
        <p:nvSpPr>
          <p:cNvPr id="4" name="TextBox 3"/>
          <p:cNvSpPr txBox="1"/>
          <p:nvPr/>
        </p:nvSpPr>
        <p:spPr>
          <a:xfrm>
            <a:off x="783772" y="372572"/>
            <a:ext cx="5107578" cy="800219"/>
          </a:xfrm>
          <a:prstGeom prst="rect">
            <a:avLst/>
          </a:prstGeom>
          <a:noFill/>
        </p:spPr>
        <p:txBody>
          <a:bodyPr wrap="square" rtlCol="0">
            <a:spAutoFit/>
          </a:bodyPr>
          <a:lstStyle/>
          <a:p>
            <a:pPr marL="457200" indent="-457200">
              <a:buFont typeface="Wingdings" panose="05000000000000000000" pitchFamily="2" charset="2"/>
              <a:buChar char="Ø"/>
            </a:pPr>
            <a:r>
              <a:rPr lang="en-IN"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Security</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endParaRPr lang="en-US" dirty="0"/>
          </a:p>
        </p:txBody>
      </p:sp>
      <p:sp>
        <p:nvSpPr>
          <p:cNvPr id="5" name="TextBox 4"/>
          <p:cNvSpPr txBox="1"/>
          <p:nvPr/>
        </p:nvSpPr>
        <p:spPr>
          <a:xfrm>
            <a:off x="836024" y="1005598"/>
            <a:ext cx="4284617" cy="5632311"/>
          </a:xfrm>
          <a:prstGeom prst="rect">
            <a:avLst/>
          </a:prstGeom>
          <a:noFill/>
        </p:spPr>
        <p:txBody>
          <a:bodyPr wrap="square" rtlCol="0">
            <a:spAutoFit/>
          </a:bodyPr>
          <a:lstStyle/>
          <a:p>
            <a:pPr lvl="0"/>
            <a:r>
              <a:rPr lang="en-IN" dirty="0"/>
              <a:t>Use HTTPS for secure communication.</a:t>
            </a:r>
            <a:endParaRPr lang="en-US" dirty="0"/>
          </a:p>
          <a:p>
            <a:pPr lvl="0"/>
            <a:r>
              <a:rPr lang="en-IN" dirty="0"/>
              <a:t>Implement firewalls and regular vulnerability scanning.</a:t>
            </a:r>
            <a:endParaRPr lang="en-US" dirty="0"/>
          </a:p>
          <a:p>
            <a:pPr lvl="0"/>
            <a:r>
              <a:rPr lang="en-IN" dirty="0"/>
              <a:t>Protect against SQL injection, XSS, and CSRF attacks.</a:t>
            </a:r>
            <a:endParaRPr lang="en-US" dirty="0"/>
          </a:p>
          <a:p>
            <a:r>
              <a:rPr lang="en-IN" dirty="0"/>
              <a:t> </a:t>
            </a:r>
            <a:endParaRPr lang="en-US" dirty="0"/>
          </a:p>
          <a:p>
            <a:pPr lvl="0"/>
            <a:r>
              <a:rPr lang="en-US" b="1" dirty="0"/>
              <a:t>High-Level Diagram</a:t>
            </a:r>
            <a:endParaRPr lang="en-US" dirty="0"/>
          </a:p>
          <a:p>
            <a:r>
              <a:rPr lang="en-US" dirty="0"/>
              <a:t>[Client Devices]</a:t>
            </a:r>
          </a:p>
          <a:p>
            <a:r>
              <a:rPr lang="en-US" dirty="0"/>
              <a:t>     |</a:t>
            </a:r>
          </a:p>
          <a:p>
            <a:r>
              <a:rPr lang="en-US" dirty="0"/>
              <a:t> [Load Balancer]</a:t>
            </a:r>
          </a:p>
          <a:p>
            <a:r>
              <a:rPr lang="en-US" dirty="0"/>
              <a:t>     |</a:t>
            </a:r>
          </a:p>
          <a:p>
            <a:r>
              <a:rPr lang="en-US" dirty="0"/>
              <a:t> [Application Servers]</a:t>
            </a:r>
          </a:p>
          <a:p>
            <a:r>
              <a:rPr lang="en-US" dirty="0"/>
              <a:t>     |</a:t>
            </a:r>
          </a:p>
          <a:p>
            <a:r>
              <a:rPr lang="en-US" dirty="0"/>
              <a:t> [Database + Cache]</a:t>
            </a:r>
          </a:p>
          <a:p>
            <a:r>
              <a:rPr lang="en-US" dirty="0"/>
              <a:t>     |</a:t>
            </a:r>
          </a:p>
          <a:p>
            <a:r>
              <a:rPr lang="en-US" dirty="0"/>
              <a:t>[Payment Gateway, CDN, Search, Shipping APIs]</a:t>
            </a:r>
          </a:p>
          <a:p>
            <a:r>
              <a:rPr lang="en-US" dirty="0"/>
              <a:t> </a:t>
            </a:r>
          </a:p>
          <a:p>
            <a:r>
              <a:rPr lang="en-IN" b="1" dirty="0"/>
              <a:t> </a:t>
            </a:r>
            <a:endParaRPr lang="en-US" dirty="0"/>
          </a:p>
          <a:p>
            <a:endParaRPr lang="en-US" dirty="0"/>
          </a:p>
        </p:txBody>
      </p:sp>
      <p:sp>
        <p:nvSpPr>
          <p:cNvPr id="6" name="TextBox 5"/>
          <p:cNvSpPr txBox="1"/>
          <p:nvPr/>
        </p:nvSpPr>
        <p:spPr>
          <a:xfrm>
            <a:off x="6171548" y="382527"/>
            <a:ext cx="5120640" cy="5509200"/>
          </a:xfrm>
          <a:prstGeom prst="rect">
            <a:avLst/>
          </a:prstGeom>
          <a:noFill/>
        </p:spPr>
        <p:txBody>
          <a:bodyPr wrap="square" rtlCol="0">
            <a:spAutoFit/>
          </a:bodyPr>
          <a:lstStyle/>
          <a:p>
            <a:r>
              <a:rPr lang="en-IN" sz="2800" b="1" dirty="0">
                <a:solidFill>
                  <a:schemeClr val="accent2">
                    <a:lumMod val="60000"/>
                    <a:lumOff val="40000"/>
                  </a:schemeClr>
                </a:solidFill>
                <a:latin typeface="Times New Roman" panose="02020603050405020304" pitchFamily="18" charset="0"/>
                <a:cs typeface="Times New Roman" panose="02020603050405020304" pitchFamily="18" charset="0"/>
              </a:rPr>
              <a:t>Modules of System</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User Module</a:t>
            </a:r>
            <a:r>
              <a:rPr lang="en-IN" dirty="0">
                <a:latin typeface="Times New Roman" panose="02020603050405020304" pitchFamily="18" charset="0"/>
                <a:cs typeface="Times New Roman" panose="02020603050405020304" pitchFamily="18" charset="0"/>
              </a:rPr>
              <a:t>: Registration, login, profile management, role-based access.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Product Management</a:t>
            </a:r>
            <a:r>
              <a:rPr lang="en-IN" dirty="0">
                <a:latin typeface="Times New Roman" panose="02020603050405020304" pitchFamily="18" charset="0"/>
                <a:cs typeface="Times New Roman" panose="02020603050405020304" pitchFamily="18" charset="0"/>
              </a:rPr>
              <a:t>: CRUD for products, </a:t>
            </a:r>
            <a:r>
              <a:rPr lang="en-IN" dirty="0" err="1">
                <a:latin typeface="Times New Roman" panose="02020603050405020304" pitchFamily="18" charset="0"/>
                <a:cs typeface="Times New Roman" panose="02020603050405020304" pitchFamily="18" charset="0"/>
              </a:rPr>
              <a:t>catalog</a:t>
            </a:r>
            <a:r>
              <a:rPr lang="en-IN" dirty="0">
                <a:latin typeface="Times New Roman" panose="02020603050405020304" pitchFamily="18" charset="0"/>
                <a:cs typeface="Times New Roman" panose="02020603050405020304" pitchFamily="18" charset="0"/>
              </a:rPr>
              <a:t> browsing, search, and filters.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Shopping Cart</a:t>
            </a:r>
            <a:r>
              <a:rPr lang="en-IN" dirty="0">
                <a:latin typeface="Times New Roman" panose="02020603050405020304" pitchFamily="18" charset="0"/>
                <a:cs typeface="Times New Roman" panose="02020603050405020304" pitchFamily="18" charset="0"/>
              </a:rPr>
              <a:t>: Add/remove items, update quantities, save cart.</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Order Management</a:t>
            </a:r>
            <a:r>
              <a:rPr lang="en-IN" dirty="0">
                <a:latin typeface="Times New Roman" panose="02020603050405020304" pitchFamily="18" charset="0"/>
                <a:cs typeface="Times New Roman" panose="02020603050405020304" pitchFamily="18" charset="0"/>
              </a:rPr>
              <a:t>: Place orders, track orders, view history, generate invoices.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Payment Integration</a:t>
            </a:r>
            <a:r>
              <a:rPr lang="en-IN" dirty="0">
                <a:latin typeface="Times New Roman" panose="02020603050405020304" pitchFamily="18" charset="0"/>
                <a:cs typeface="Times New Roman" panose="02020603050405020304" pitchFamily="18" charset="0"/>
              </a:rPr>
              <a:t>: Secure payment gateways, refunds, transaction history.</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Shipping</a:t>
            </a:r>
            <a:r>
              <a:rPr lang="en-IN" dirty="0">
                <a:latin typeface="Times New Roman" panose="02020603050405020304" pitchFamily="18" charset="0"/>
                <a:cs typeface="Times New Roman" panose="02020603050405020304" pitchFamily="18" charset="0"/>
              </a:rPr>
              <a:t>: Real-time shipping cost, tracking via APIs.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Admin Dashboard</a:t>
            </a:r>
            <a:r>
              <a:rPr lang="en-IN" dirty="0">
                <a:latin typeface="Times New Roman" panose="02020603050405020304" pitchFamily="18" charset="0"/>
                <a:cs typeface="Times New Roman" panose="02020603050405020304" pitchFamily="18" charset="0"/>
              </a:rPr>
              <a:t>: Manage users, products, orders, and view analytics.</a:t>
            </a:r>
            <a:endParaRPr lang="en-US"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Notifications</a:t>
            </a:r>
            <a:r>
              <a:rPr lang="en-IN" dirty="0">
                <a:latin typeface="Times New Roman" panose="02020603050405020304" pitchFamily="18" charset="0"/>
                <a:cs typeface="Times New Roman" panose="02020603050405020304" pitchFamily="18" charset="0"/>
              </a:rPr>
              <a:t>: Email/SMS alerts for orders and updates.</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742767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10</a:t>
            </a:fld>
            <a:endParaRPr lang="en-US" dirty="0"/>
          </a:p>
        </p:txBody>
      </p:sp>
      <p:sp>
        <p:nvSpPr>
          <p:cNvPr id="4" name="TextBox 3"/>
          <p:cNvSpPr txBox="1"/>
          <p:nvPr/>
        </p:nvSpPr>
        <p:spPr>
          <a:xfrm>
            <a:off x="418012" y="238259"/>
            <a:ext cx="10644922" cy="6217087"/>
          </a:xfrm>
          <a:prstGeom prst="rect">
            <a:avLst/>
          </a:prstGeom>
          <a:noFill/>
        </p:spPr>
        <p:txBody>
          <a:bodyPr wrap="square" rtlCol="0">
            <a:spAutoFit/>
          </a:bodyPr>
          <a:lstStyle/>
          <a:p>
            <a:r>
              <a:rPr lang="en-IN" sz="2800" b="1" dirty="0">
                <a:solidFill>
                  <a:schemeClr val="accent2">
                    <a:lumMod val="60000"/>
                    <a:lumOff val="40000"/>
                  </a:schemeClr>
                </a:solidFill>
                <a:latin typeface="Times New Roman" panose="02020603050405020304" pitchFamily="18" charset="0"/>
                <a:cs typeface="Times New Roman" panose="02020603050405020304" pitchFamily="18" charset="0"/>
              </a:rPr>
              <a:t>UML </a:t>
            </a:r>
            <a:r>
              <a:rPr lang="en-IN"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Diagrams</a:t>
            </a:r>
          </a:p>
          <a:p>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Use Case Diagram (Textual Representation)</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Actors: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Customer: The user who shops at the online grocery store.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Admin: The person who manages the inventory, orders, and overall store.</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Payment System: External system to process payments.</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Use Cases: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Browse Products: Customers can view available products.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Add to Cart: Customers can add items to their shopping cart.</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Place Order: After selecting products, customers can place an order.</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Make Payment: Customers can complete their purchase through a payment system.</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View Order History: Customers can view past orders.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Search Products: Customers can search for specific products.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Manage Inventory: Admin can add or remove products from the inventory.</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Process Orders: Admin can process and dispatch orders.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Manage Users: Admin can manage customer accounts.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HK" dirty="0">
                <a:latin typeface="Times New Roman" panose="02020603050405020304" pitchFamily="18" charset="0"/>
                <a:cs typeface="Times New Roman" panose="02020603050405020304" pitchFamily="18" charset="0"/>
              </a:rPr>
              <a:t>Track Payment: Payment system processes payment and informs the system of status.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9733182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11</a:t>
            </a:fld>
            <a:endParaRPr lang="en-US" dirty="0"/>
          </a:p>
        </p:txBody>
      </p:sp>
      <p:pic>
        <p:nvPicPr>
          <p:cNvPr id="5" name="Picture 4"/>
          <p:cNvPicPr/>
          <p:nvPr/>
        </p:nvPicPr>
        <p:blipFill>
          <a:blip r:embed="rId2"/>
          <a:stretch>
            <a:fillRect/>
          </a:stretch>
        </p:blipFill>
        <p:spPr>
          <a:xfrm>
            <a:off x="1" y="1"/>
            <a:ext cx="12192000" cy="6858000"/>
          </a:xfrm>
          <a:prstGeom prst="rect">
            <a:avLst/>
          </a:prstGeom>
        </p:spPr>
      </p:pic>
    </p:spTree>
    <p:extLst>
      <p:ext uri="{BB962C8B-B14F-4D97-AF65-F5344CB8AC3E}">
        <p14:creationId xmlns:p14="http://schemas.microsoft.com/office/powerpoint/2010/main" val="9822367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12</a:t>
            </a:fld>
            <a:endParaRPr lang="en-US" dirty="0"/>
          </a:p>
        </p:txBody>
      </p:sp>
      <p:sp>
        <p:nvSpPr>
          <p:cNvPr id="4" name="TextBox 3"/>
          <p:cNvSpPr txBox="1"/>
          <p:nvPr/>
        </p:nvSpPr>
        <p:spPr>
          <a:xfrm>
            <a:off x="509453" y="559231"/>
            <a:ext cx="4310742" cy="6063198"/>
          </a:xfrm>
          <a:prstGeom prst="rect">
            <a:avLst/>
          </a:prstGeom>
          <a:noFill/>
        </p:spPr>
        <p:txBody>
          <a:bodyPr wrap="square" rtlCol="0">
            <a:spAutoFit/>
          </a:bodyPr>
          <a:lstStyle/>
          <a:p>
            <a:pPr lvl="0"/>
            <a:r>
              <a:rPr lang="en-US" sz="2800" b="1" dirty="0">
                <a:solidFill>
                  <a:schemeClr val="accent2">
                    <a:lumMod val="60000"/>
                    <a:lumOff val="40000"/>
                  </a:schemeClr>
                </a:solidFill>
                <a:latin typeface="Times New Roman" panose="02020603050405020304" pitchFamily="18" charset="0"/>
                <a:cs typeface="Times New Roman" panose="02020603050405020304" pitchFamily="18" charset="0"/>
              </a:rPr>
              <a:t>Implementation</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Technology Stack</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Frontend:</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Languages: </a:t>
            </a:r>
            <a:r>
              <a:rPr lang="en-IN" dirty="0">
                <a:latin typeface="Times New Roman" panose="02020603050405020304" pitchFamily="18" charset="0"/>
                <a:cs typeface="Times New Roman" panose="02020603050405020304" pitchFamily="18" charset="0"/>
              </a:rPr>
              <a:t>HTML, CSS, JavaScript.</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Frameworks: </a:t>
            </a:r>
            <a:r>
              <a:rPr lang="en-IN" dirty="0">
                <a:latin typeface="Times New Roman" panose="02020603050405020304" pitchFamily="18" charset="0"/>
                <a:cs typeface="Times New Roman" panose="02020603050405020304" pitchFamily="18" charset="0"/>
              </a:rPr>
              <a:t>React.js, Angular, or Vue.js.</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Features: </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Responsive design for mobile and desktop.</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User-friendly navigation for browsing and searching products.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Backend:</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Languages: </a:t>
            </a:r>
            <a:r>
              <a:rPr lang="en-IN" dirty="0">
                <a:latin typeface="Times New Roman" panose="02020603050405020304" pitchFamily="18" charset="0"/>
                <a:cs typeface="Times New Roman" panose="02020603050405020304" pitchFamily="18" charset="0"/>
              </a:rPr>
              <a:t>Node.js, Python (Django/Flask), Java (Spring Boot), or Ruby on Rails.</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Features: </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RESTful APIs for data handling.</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Business logic for cart, orders, and payments.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994546" y="1306287"/>
            <a:ext cx="5316582" cy="3693319"/>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Database:</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Relational Databases: </a:t>
            </a:r>
            <a:r>
              <a:rPr lang="en-IN" dirty="0">
                <a:latin typeface="Times New Roman" panose="02020603050405020304" pitchFamily="18" charset="0"/>
                <a:cs typeface="Times New Roman" panose="02020603050405020304" pitchFamily="18" charset="0"/>
              </a:rPr>
              <a:t>MySQL, PostgreSQL.</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NoSQL Databases: </a:t>
            </a:r>
            <a:r>
              <a:rPr lang="en-IN" dirty="0">
                <a:latin typeface="Times New Roman" panose="02020603050405020304" pitchFamily="18" charset="0"/>
                <a:cs typeface="Times New Roman" panose="02020603050405020304" pitchFamily="18" charset="0"/>
              </a:rPr>
              <a:t>MongoDB (for flexibility in product </a:t>
            </a:r>
            <a:r>
              <a:rPr lang="en-IN" dirty="0" err="1">
                <a:latin typeface="Times New Roman" panose="02020603050405020304" pitchFamily="18" charset="0"/>
                <a:cs typeface="Times New Roman" panose="02020603050405020304" pitchFamily="18" charset="0"/>
              </a:rPr>
              <a:t>catalog</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Features: </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storage for users, products, orders, and transactions.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Optimization for search and filtering.</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Hosting:</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Cloud Providers: AWS, Google Cloud, Azure.</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Services: Load balancers, auto-scaling, CDN (e.g., </a:t>
            </a:r>
            <a:r>
              <a:rPr lang="en-IN" b="1" dirty="0" err="1">
                <a:latin typeface="Times New Roman" panose="02020603050405020304" pitchFamily="18" charset="0"/>
                <a:cs typeface="Times New Roman" panose="02020603050405020304" pitchFamily="18" charset="0"/>
              </a:rPr>
              <a:t>Cloudflare</a:t>
            </a:r>
            <a:r>
              <a:rPr lang="en-IN"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32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13</a:t>
            </a:fld>
            <a:endParaRPr lang="en-US" dirty="0"/>
          </a:p>
        </p:txBody>
      </p:sp>
      <p:sp>
        <p:nvSpPr>
          <p:cNvPr id="4" name="TextBox 3"/>
          <p:cNvSpPr txBox="1"/>
          <p:nvPr/>
        </p:nvSpPr>
        <p:spPr>
          <a:xfrm>
            <a:off x="483326" y="248774"/>
            <a:ext cx="10279162" cy="6494085"/>
          </a:xfrm>
          <a:prstGeom prst="rect">
            <a:avLst/>
          </a:prstGeom>
          <a:noFill/>
        </p:spPr>
        <p:txBody>
          <a:bodyPr wrap="square" rtlCol="0">
            <a:spAutoFit/>
          </a:bodyPr>
          <a:lstStyle/>
          <a:p>
            <a:pPr lvl="1"/>
            <a:r>
              <a:rPr lang="en-US" sz="2800" b="1" dirty="0">
                <a:solidFill>
                  <a:schemeClr val="accent2">
                    <a:lumMod val="60000"/>
                    <a:lumOff val="40000"/>
                  </a:schemeClr>
                </a:solidFill>
                <a:latin typeface="Times New Roman" panose="02020603050405020304" pitchFamily="18" charset="0"/>
                <a:cs typeface="Times New Roman" panose="02020603050405020304" pitchFamily="18" charset="0"/>
              </a:rPr>
              <a:t>Sample </a:t>
            </a:r>
            <a:r>
              <a:rPr lang="en-US"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Code</a:t>
            </a:r>
          </a:p>
          <a:p>
            <a:pPr lvl="1"/>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r>
              <a:rPr lang="en-US" dirty="0"/>
              <a:t>    &lt;!DOCTYPE html&gt;</a:t>
            </a:r>
            <a:endParaRPr lang="en-US" sz="1600" dirty="0"/>
          </a:p>
          <a:p>
            <a:r>
              <a:rPr lang="en-US" dirty="0"/>
              <a:t>&lt;html&gt;</a:t>
            </a:r>
            <a:endParaRPr lang="en-US" sz="1600" dirty="0"/>
          </a:p>
          <a:p>
            <a:r>
              <a:rPr lang="en-US" dirty="0"/>
              <a:t> </a:t>
            </a:r>
            <a:endParaRPr lang="en-US" sz="1600" dirty="0"/>
          </a:p>
          <a:p>
            <a:r>
              <a:rPr lang="en-US" dirty="0"/>
              <a:t>&lt;head&gt;</a:t>
            </a:r>
            <a:endParaRPr lang="en-US" sz="1600" dirty="0"/>
          </a:p>
          <a:p>
            <a:r>
              <a:rPr lang="en-US" dirty="0"/>
              <a:t>           </a:t>
            </a:r>
            <a:r>
              <a:rPr lang="en-US" dirty="0" err="1"/>
              <a:t>const</a:t>
            </a:r>
            <a:r>
              <a:rPr lang="en-US" dirty="0"/>
              <a:t> username = </a:t>
            </a:r>
            <a:r>
              <a:rPr lang="en-US" dirty="0" err="1"/>
              <a:t>document.getElementById</a:t>
            </a:r>
            <a:r>
              <a:rPr lang="en-US" dirty="0"/>
              <a:t>("username").value;</a:t>
            </a:r>
            <a:endParaRPr lang="en-US" sz="1600" dirty="0"/>
          </a:p>
          <a:p>
            <a:r>
              <a:rPr lang="en-US" dirty="0"/>
              <a:t>           </a:t>
            </a:r>
            <a:r>
              <a:rPr lang="en-US" dirty="0" err="1"/>
              <a:t>const</a:t>
            </a:r>
            <a:r>
              <a:rPr lang="en-US" dirty="0"/>
              <a:t> password = </a:t>
            </a:r>
            <a:r>
              <a:rPr lang="en-US" dirty="0" err="1"/>
              <a:t>document.getElementById</a:t>
            </a:r>
            <a:r>
              <a:rPr lang="en-US" dirty="0"/>
              <a:t>("password").value;</a:t>
            </a:r>
            <a:endParaRPr lang="en-US" sz="1600" dirty="0"/>
          </a:p>
          <a:p>
            <a:r>
              <a:rPr lang="en-US" dirty="0"/>
              <a:t>            </a:t>
            </a:r>
            <a:r>
              <a:rPr lang="en-US" dirty="0" err="1"/>
              <a:t>const</a:t>
            </a:r>
            <a:r>
              <a:rPr lang="en-US" dirty="0"/>
              <a:t> </a:t>
            </a:r>
            <a:r>
              <a:rPr lang="en-US" dirty="0" err="1"/>
              <a:t>errorMessage</a:t>
            </a:r>
            <a:r>
              <a:rPr lang="en-US" dirty="0"/>
              <a:t> = </a:t>
            </a:r>
            <a:r>
              <a:rPr lang="en-US" dirty="0" err="1"/>
              <a:t>document.getElementById</a:t>
            </a:r>
            <a:r>
              <a:rPr lang="en-US" dirty="0"/>
              <a:t>("error-message");</a:t>
            </a:r>
            <a:endParaRPr lang="en-US" sz="1600" dirty="0"/>
          </a:p>
          <a:p>
            <a:r>
              <a:rPr lang="en-US" dirty="0"/>
              <a:t> </a:t>
            </a:r>
            <a:endParaRPr lang="en-US" sz="1600" dirty="0"/>
          </a:p>
          <a:p>
            <a:r>
              <a:rPr lang="en-US" dirty="0"/>
              <a:t>            if (</a:t>
            </a:r>
            <a:r>
              <a:rPr lang="en-US" dirty="0" err="1"/>
              <a:t>validUsers</a:t>
            </a:r>
            <a:r>
              <a:rPr lang="en-US" dirty="0"/>
              <a:t>[username] &amp;&amp; </a:t>
            </a:r>
            <a:r>
              <a:rPr lang="en-US" dirty="0" err="1"/>
              <a:t>validUsers</a:t>
            </a:r>
            <a:r>
              <a:rPr lang="en-US" dirty="0"/>
              <a:t>[username] === password) {</a:t>
            </a:r>
            <a:endParaRPr lang="en-US" sz="1600" dirty="0"/>
          </a:p>
          <a:p>
            <a:r>
              <a:rPr lang="en-US" dirty="0"/>
              <a:t>                alert("Login successful!");</a:t>
            </a:r>
            <a:endParaRPr lang="en-US" sz="1600" dirty="0"/>
          </a:p>
          <a:p>
            <a:r>
              <a:rPr lang="en-US" dirty="0"/>
              <a:t>                // Hide the login section and directly go to the shopping section</a:t>
            </a:r>
            <a:endParaRPr lang="en-US" sz="1600" dirty="0"/>
          </a:p>
          <a:p>
            <a:r>
              <a:rPr lang="en-US" dirty="0"/>
              <a:t>                </a:t>
            </a:r>
            <a:r>
              <a:rPr lang="en-US" dirty="0" err="1"/>
              <a:t>document.getElementById</a:t>
            </a:r>
            <a:r>
              <a:rPr lang="en-US" dirty="0"/>
              <a:t>("</a:t>
            </a:r>
            <a:r>
              <a:rPr lang="en-US" dirty="0" err="1"/>
              <a:t>sectionusername</a:t>
            </a:r>
            <a:r>
              <a:rPr lang="en-US" dirty="0"/>
              <a:t>").</a:t>
            </a:r>
            <a:r>
              <a:rPr lang="en-US" dirty="0" err="1"/>
              <a:t>style.display</a:t>
            </a:r>
            <a:r>
              <a:rPr lang="en-US" dirty="0"/>
              <a:t> = "none";</a:t>
            </a:r>
            <a:endParaRPr lang="en-US" sz="1600" dirty="0"/>
          </a:p>
          <a:p>
            <a:r>
              <a:rPr lang="en-US" dirty="0"/>
              <a:t>                </a:t>
            </a:r>
            <a:r>
              <a:rPr lang="en-US" dirty="0" err="1"/>
              <a:t>document.getElementById</a:t>
            </a:r>
            <a:r>
              <a:rPr lang="en-US" dirty="0"/>
              <a:t>("</a:t>
            </a:r>
            <a:r>
              <a:rPr lang="en-US" dirty="0" err="1"/>
              <a:t>sectionwelcomecontainer</a:t>
            </a:r>
            <a:r>
              <a:rPr lang="en-US" dirty="0"/>
              <a:t>").</a:t>
            </a:r>
            <a:r>
              <a:rPr lang="en-US" dirty="0" err="1"/>
              <a:t>style.display</a:t>
            </a:r>
            <a:r>
              <a:rPr lang="en-US" dirty="0"/>
              <a:t> = "none";</a:t>
            </a:r>
            <a:endParaRPr lang="en-US" sz="1600" dirty="0"/>
          </a:p>
          <a:p>
            <a:r>
              <a:rPr lang="en-IN" dirty="0"/>
              <a:t>                </a:t>
            </a:r>
            <a:r>
              <a:rPr lang="en-IN" dirty="0" err="1"/>
              <a:t>document.getElementById</a:t>
            </a:r>
            <a:r>
              <a:rPr lang="en-IN" dirty="0"/>
              <a:t>("</a:t>
            </a:r>
            <a:r>
              <a:rPr lang="en-IN" dirty="0" err="1"/>
              <a:t>sectionitems</a:t>
            </a:r>
            <a:r>
              <a:rPr lang="en-IN" dirty="0"/>
              <a:t>").</a:t>
            </a:r>
            <a:r>
              <a:rPr lang="en-IN" dirty="0" err="1"/>
              <a:t>style.display</a:t>
            </a:r>
            <a:r>
              <a:rPr lang="en-IN" dirty="0"/>
              <a:t> = "block";</a:t>
            </a:r>
            <a:endParaRPr lang="en-US" sz="1600" dirty="0"/>
          </a:p>
          <a:p>
            <a:r>
              <a:rPr lang="en-US" dirty="0"/>
              <a:t>            } else {</a:t>
            </a:r>
            <a:endParaRPr lang="en-US" sz="1600" dirty="0"/>
          </a:p>
          <a:p>
            <a:r>
              <a:rPr lang="en-US" dirty="0"/>
              <a:t>                </a:t>
            </a:r>
            <a:r>
              <a:rPr lang="en-US" dirty="0" err="1"/>
              <a:t>errorMessage.style.display</a:t>
            </a:r>
            <a:r>
              <a:rPr lang="en-US" dirty="0"/>
              <a:t> = "block";</a:t>
            </a:r>
            <a:endParaRPr lang="en-US" sz="1600" dirty="0"/>
          </a:p>
          <a:p>
            <a:r>
              <a:rPr lang="en-US" dirty="0"/>
              <a:t>            }</a:t>
            </a:r>
            <a:endParaRPr lang="en-US" sz="1600" dirty="0"/>
          </a:p>
          <a:p>
            <a:r>
              <a:rPr lang="en-US" dirty="0"/>
              <a:t>        }</a:t>
            </a:r>
            <a:endParaRPr lang="en-US" sz="1600" dirty="0"/>
          </a:p>
          <a:p>
            <a:r>
              <a:rPr lang="en-US" dirty="0"/>
              <a:t>    &lt;/script&gt;</a:t>
            </a:r>
            <a:endParaRPr lang="en-US" sz="1600" dirty="0"/>
          </a:p>
          <a:p>
            <a:endParaRPr lang="en-US" dirty="0"/>
          </a:p>
        </p:txBody>
      </p:sp>
    </p:spTree>
    <p:extLst>
      <p:ext uri="{BB962C8B-B14F-4D97-AF65-F5344CB8AC3E}">
        <p14:creationId xmlns:p14="http://schemas.microsoft.com/office/powerpoint/2010/main" val="1255794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14</a:t>
            </a:fld>
            <a:endParaRPr lang="en-US" dirty="0"/>
          </a:p>
        </p:txBody>
      </p:sp>
      <p:sp>
        <p:nvSpPr>
          <p:cNvPr id="4" name="TextBox 3"/>
          <p:cNvSpPr txBox="1"/>
          <p:nvPr/>
        </p:nvSpPr>
        <p:spPr>
          <a:xfrm>
            <a:off x="287383" y="496390"/>
            <a:ext cx="5669280" cy="1231106"/>
          </a:xfrm>
          <a:prstGeom prst="rect">
            <a:avLst/>
          </a:prstGeom>
          <a:noFill/>
        </p:spPr>
        <p:txBody>
          <a:bodyPr wrap="square" rtlCol="0">
            <a:spAutoFit/>
          </a:bodyPr>
          <a:lstStyle/>
          <a:p>
            <a:pPr lvl="0"/>
            <a:r>
              <a:rPr lang="en-US"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Results</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pPr lvl="0"/>
            <a:r>
              <a:rPr lang="en-US" sz="2800" b="1" dirty="0" smtClean="0">
                <a:solidFill>
                  <a:schemeClr val="accent2">
                    <a:lumMod val="60000"/>
                    <a:lumOff val="40000"/>
                  </a:schemeClr>
                </a:solidFill>
                <a:latin typeface="Times New Roman" panose="02020603050405020304" pitchFamily="18" charset="0"/>
                <a:cs typeface="Times New Roman" panose="02020603050405020304" pitchFamily="18" charset="0"/>
              </a:rPr>
              <a:t>Output </a:t>
            </a:r>
            <a:r>
              <a:rPr lang="en-US" sz="2800" b="1" dirty="0">
                <a:solidFill>
                  <a:schemeClr val="accent2">
                    <a:lumMod val="60000"/>
                    <a:lumOff val="40000"/>
                  </a:schemeClr>
                </a:solidFill>
                <a:latin typeface="Times New Roman" panose="02020603050405020304" pitchFamily="18" charset="0"/>
                <a:cs typeface="Times New Roman" panose="02020603050405020304" pitchFamily="18" charset="0"/>
              </a:rPr>
              <a:t>Screens</a:t>
            </a: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a:p>
            <a:endParaRPr lang="en-US" dirty="0"/>
          </a:p>
        </p:txBody>
      </p:sp>
      <p:pic>
        <p:nvPicPr>
          <p:cNvPr id="6" name="Picture 5" descr="A screenshot of a login page&#10;&#10;AI-generated content may be incorrect."/>
          <p:cNvPicPr/>
          <p:nvPr/>
        </p:nvPicPr>
        <p:blipFill>
          <a:blip r:embed="rId2" cstate="print">
            <a:extLst>
              <a:ext uri="{28A0092B-C50C-407E-A947-70E740481C1C}">
                <a14:useLocalDpi xmlns:a14="http://schemas.microsoft.com/office/drawing/2010/main" val="0"/>
              </a:ext>
            </a:extLst>
          </a:blip>
          <a:stretch>
            <a:fillRect/>
          </a:stretch>
        </p:blipFill>
        <p:spPr>
          <a:xfrm>
            <a:off x="287383" y="1606732"/>
            <a:ext cx="5669280" cy="4682314"/>
          </a:xfrm>
          <a:prstGeom prst="rect">
            <a:avLst/>
          </a:prstGeom>
        </p:spPr>
      </p:pic>
      <p:pic>
        <p:nvPicPr>
          <p:cNvPr id="8" name="Picture 7" descr="A screenshot of a computer&#10;&#10;AI-generated content may be incorrect."/>
          <p:cNvPicPr/>
          <p:nvPr/>
        </p:nvPicPr>
        <p:blipFill>
          <a:blip r:embed="rId3">
            <a:extLst>
              <a:ext uri="{28A0092B-C50C-407E-A947-70E740481C1C}">
                <a14:useLocalDpi xmlns:a14="http://schemas.microsoft.com/office/drawing/2010/main" val="0"/>
              </a:ext>
            </a:extLst>
          </a:blip>
          <a:stretch>
            <a:fillRect/>
          </a:stretch>
        </p:blipFill>
        <p:spPr>
          <a:xfrm>
            <a:off x="5885688" y="1883030"/>
            <a:ext cx="6065520" cy="3903816"/>
          </a:xfrm>
          <a:prstGeom prst="rect">
            <a:avLst/>
          </a:prstGeom>
        </p:spPr>
      </p:pic>
    </p:spTree>
    <p:extLst>
      <p:ext uri="{BB962C8B-B14F-4D97-AF65-F5344CB8AC3E}">
        <p14:creationId xmlns:p14="http://schemas.microsoft.com/office/powerpoint/2010/main" val="1915565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15</a:t>
            </a:fld>
            <a:endParaRPr lang="en-US" dirty="0"/>
          </a:p>
        </p:txBody>
      </p:sp>
      <p:pic>
        <p:nvPicPr>
          <p:cNvPr id="5" name="Picture 4" descr="A screenshot of a computer&#10;&#10;AI-generated content may be incorrect."/>
          <p:cNvPicPr/>
          <p:nvPr/>
        </p:nvPicPr>
        <p:blipFill>
          <a:blip r:embed="rId2" cstate="print">
            <a:extLst>
              <a:ext uri="{28A0092B-C50C-407E-A947-70E740481C1C}">
                <a14:useLocalDpi xmlns:a14="http://schemas.microsoft.com/office/drawing/2010/main" val="0"/>
              </a:ext>
            </a:extLst>
          </a:blip>
          <a:stretch>
            <a:fillRect/>
          </a:stretch>
        </p:blipFill>
        <p:spPr>
          <a:xfrm>
            <a:off x="0" y="1214301"/>
            <a:ext cx="5760719" cy="4768487"/>
          </a:xfrm>
          <a:prstGeom prst="rect">
            <a:avLst/>
          </a:prstGeom>
        </p:spPr>
      </p:pic>
      <p:pic>
        <p:nvPicPr>
          <p:cNvPr id="6" name="Picture 5" descr="A group of packages of food&#10;&#10;AI-generated content may be incorrect."/>
          <p:cNvPicPr/>
          <p:nvPr/>
        </p:nvPicPr>
        <p:blipFill>
          <a:blip r:embed="rId3" cstate="print">
            <a:extLst>
              <a:ext uri="{28A0092B-C50C-407E-A947-70E740481C1C}">
                <a14:useLocalDpi xmlns:a14="http://schemas.microsoft.com/office/drawing/2010/main" val="0"/>
              </a:ext>
            </a:extLst>
          </a:blip>
          <a:stretch>
            <a:fillRect/>
          </a:stretch>
        </p:blipFill>
        <p:spPr>
          <a:xfrm>
            <a:off x="5943600" y="1214301"/>
            <a:ext cx="6007608" cy="4663984"/>
          </a:xfrm>
          <a:prstGeom prst="rect">
            <a:avLst/>
          </a:prstGeom>
        </p:spPr>
      </p:pic>
    </p:spTree>
    <p:extLst>
      <p:ext uri="{BB962C8B-B14F-4D97-AF65-F5344CB8AC3E}">
        <p14:creationId xmlns:p14="http://schemas.microsoft.com/office/powerpoint/2010/main" val="30385783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16</a:t>
            </a:fld>
            <a:endParaRPr lang="en-US" dirty="0"/>
          </a:p>
        </p:txBody>
      </p:sp>
      <p:pic>
        <p:nvPicPr>
          <p:cNvPr id="5" name="Picture 4" descr="A screenshot of a phone&#10;&#10;AI-generated content may be incorrect."/>
          <p:cNvPicPr/>
          <p:nvPr/>
        </p:nvPicPr>
        <p:blipFill>
          <a:blip r:embed="rId2">
            <a:extLst>
              <a:ext uri="{28A0092B-C50C-407E-A947-70E740481C1C}">
                <a14:useLocalDpi xmlns:a14="http://schemas.microsoft.com/office/drawing/2010/main" val="0"/>
              </a:ext>
            </a:extLst>
          </a:blip>
          <a:stretch>
            <a:fillRect/>
          </a:stretch>
        </p:blipFill>
        <p:spPr>
          <a:xfrm>
            <a:off x="140061" y="757646"/>
            <a:ext cx="5294088" cy="5199017"/>
          </a:xfrm>
          <a:prstGeom prst="rect">
            <a:avLst/>
          </a:prstGeom>
        </p:spPr>
      </p:pic>
      <p:pic>
        <p:nvPicPr>
          <p:cNvPr id="6" name="Picture 5" descr="A screen shot of a computer screen&#10;&#10;AI-generated content may be incorrect."/>
          <p:cNvPicPr/>
          <p:nvPr/>
        </p:nvPicPr>
        <p:blipFill>
          <a:blip r:embed="rId3">
            <a:extLst>
              <a:ext uri="{28A0092B-C50C-407E-A947-70E740481C1C}">
                <a14:useLocalDpi xmlns:a14="http://schemas.microsoft.com/office/drawing/2010/main" val="0"/>
              </a:ext>
            </a:extLst>
          </a:blip>
          <a:stretch>
            <a:fillRect/>
          </a:stretch>
        </p:blipFill>
        <p:spPr>
          <a:xfrm>
            <a:off x="5816382" y="757647"/>
            <a:ext cx="5814786" cy="5199016"/>
          </a:xfrm>
          <a:prstGeom prst="rect">
            <a:avLst/>
          </a:prstGeom>
        </p:spPr>
      </p:pic>
    </p:spTree>
    <p:extLst>
      <p:ext uri="{BB962C8B-B14F-4D97-AF65-F5344CB8AC3E}">
        <p14:creationId xmlns:p14="http://schemas.microsoft.com/office/powerpoint/2010/main" val="25556218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4FAB73BC-B049-4115-A692-8D63A059BFB8}" type="slidenum">
              <a:rPr lang="en-US" smtClean="0"/>
              <a:t>17</a:t>
            </a:fld>
            <a:endParaRPr lang="en-US" dirty="0"/>
          </a:p>
        </p:txBody>
      </p:sp>
      <p:pic>
        <p:nvPicPr>
          <p:cNvPr id="5" name="Picture 4" descr="A person pushing a shopping cart&#10;&#10;AI-generated content may be incorrect."/>
          <p:cNvPicPr/>
          <p:nvPr/>
        </p:nvPicPr>
        <p:blipFill>
          <a:blip r:embed="rId2" cstate="print">
            <a:extLst>
              <a:ext uri="{28A0092B-C50C-407E-A947-70E740481C1C}">
                <a14:useLocalDpi xmlns:a14="http://schemas.microsoft.com/office/drawing/2010/main" val="0"/>
              </a:ext>
            </a:extLst>
          </a:blip>
          <a:stretch>
            <a:fillRect/>
          </a:stretch>
        </p:blipFill>
        <p:spPr>
          <a:xfrm>
            <a:off x="1" y="130629"/>
            <a:ext cx="12192000" cy="6507280"/>
          </a:xfrm>
          <a:prstGeom prst="rect">
            <a:avLst/>
          </a:prstGeom>
        </p:spPr>
      </p:pic>
    </p:spTree>
    <p:extLst>
      <p:ext uri="{BB962C8B-B14F-4D97-AF65-F5344CB8AC3E}">
        <p14:creationId xmlns:p14="http://schemas.microsoft.com/office/powerpoint/2010/main" val="17320927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2C45FA-65A0-1ABE-C524-4263E4FD85D1}"/>
              </a:ext>
            </a:extLst>
          </p:cNvPr>
          <p:cNvSpPr txBox="1"/>
          <p:nvPr/>
        </p:nvSpPr>
        <p:spPr>
          <a:xfrm>
            <a:off x="2327563" y="719909"/>
            <a:ext cx="4304146" cy="861774"/>
          </a:xfrm>
          <a:prstGeom prst="rect">
            <a:avLst/>
          </a:prstGeom>
          <a:noFill/>
        </p:spPr>
        <p:txBody>
          <a:bodyPr wrap="square" rtlCol="0">
            <a:spAutoFit/>
          </a:bodyPr>
          <a:lstStyle/>
          <a:p>
            <a:r>
              <a:rPr lang="en-IN" sz="3200" b="1" dirty="0">
                <a:solidFill>
                  <a:schemeClr val="accent2">
                    <a:lumMod val="60000"/>
                    <a:lumOff val="40000"/>
                  </a:schemeClr>
                </a:solidFill>
                <a:effectLst/>
                <a:latin typeface="Times New Roman" panose="02020603050405020304" pitchFamily="18" charset="0"/>
                <a:ea typeface="Times New Roman" panose="02020603050405020304" pitchFamily="18" charset="0"/>
              </a:rPr>
              <a:t>CONCLUSION:</a:t>
            </a:r>
            <a:endParaRPr lang="en-HK" sz="3200" dirty="0">
              <a:solidFill>
                <a:schemeClr val="accent2">
                  <a:lumMod val="60000"/>
                  <a:lumOff val="40000"/>
                </a:schemeClr>
              </a:solidFill>
              <a:effectLst/>
              <a:latin typeface="Calibri" panose="020F0502020204030204" pitchFamily="34" charset="0"/>
              <a:ea typeface="Calibri" panose="020F0502020204030204" pitchFamily="34" charset="0"/>
            </a:endParaRPr>
          </a:p>
          <a:p>
            <a:endParaRPr lang="en-HK" dirty="0"/>
          </a:p>
        </p:txBody>
      </p:sp>
      <p:sp>
        <p:nvSpPr>
          <p:cNvPr id="6" name="TextBox 5">
            <a:extLst>
              <a:ext uri="{FF2B5EF4-FFF2-40B4-BE49-F238E27FC236}">
                <a16:creationId xmlns:a16="http://schemas.microsoft.com/office/drawing/2014/main" id="{3BA97C70-3CC0-3DDE-DB59-2447B9FC5872}"/>
              </a:ext>
            </a:extLst>
          </p:cNvPr>
          <p:cNvSpPr txBox="1"/>
          <p:nvPr/>
        </p:nvSpPr>
        <p:spPr>
          <a:xfrm>
            <a:off x="3537527" y="1690255"/>
            <a:ext cx="6188364" cy="3640740"/>
          </a:xfrm>
          <a:prstGeom prst="rect">
            <a:avLst/>
          </a:prstGeom>
          <a:noFill/>
        </p:spPr>
        <p:txBody>
          <a:bodyPr wrap="square" rtlCol="0">
            <a:spAutoFit/>
          </a:bodyPr>
          <a:lstStyle/>
          <a:p>
            <a:pPr>
              <a:lnSpc>
                <a:spcPct val="107000"/>
              </a:lnSpc>
              <a:spcAft>
                <a:spcPts val="800"/>
              </a:spcAft>
            </a:pPr>
            <a:r>
              <a:rPr lang="en-HK" sz="1800" dirty="0">
                <a:effectLst/>
                <a:latin typeface="Times New Roman" panose="02020603050405020304" pitchFamily="18" charset="0"/>
                <a:ea typeface="Times New Roman" panose="02020603050405020304" pitchFamily="18" charset="0"/>
              </a:rPr>
              <a:t>The shift towards online grocery shopping is inevitable due to the increasing need for convenience and efficiency. Our online grocery store offers a seamless and customer-friendly platform to purchase daily essentials effortlessly. By integrating technology, we enhance user experience, ensure quality service, and provide a competitive advantage in the digital marketplace.</a:t>
            </a:r>
            <a:endParaRPr lang="en-HK" sz="1800" dirty="0">
              <a:effectLst/>
              <a:latin typeface="Calibri" panose="020F0502020204030204" pitchFamily="34" charset="0"/>
              <a:ea typeface="Calibri" panose="020F0502020204030204" pitchFamily="34" charset="0"/>
            </a:endParaRPr>
          </a:p>
          <a:p>
            <a:pPr>
              <a:lnSpc>
                <a:spcPct val="107000"/>
              </a:lnSpc>
              <a:spcAft>
                <a:spcPts val="800"/>
              </a:spcAft>
            </a:pPr>
            <a:r>
              <a:rPr lang="en-HK" sz="1800" dirty="0">
                <a:effectLst/>
                <a:latin typeface="Times New Roman" panose="02020603050405020304" pitchFamily="18" charset="0"/>
                <a:ea typeface="Times New Roman" panose="02020603050405020304" pitchFamily="18" charset="0"/>
              </a:rPr>
              <a:t>With a commitment to reliability, affordability, and innovation, our store aims to transform the grocery shopping experience for everyone.</a:t>
            </a:r>
            <a:endParaRPr lang="en-HK" sz="1800" dirty="0">
              <a:effectLst/>
              <a:latin typeface="Calibri" panose="020F0502020204030204" pitchFamily="34" charset="0"/>
              <a:ea typeface="Calibri" panose="020F0502020204030204" pitchFamily="34" charset="0"/>
            </a:endParaRPr>
          </a:p>
          <a:p>
            <a:pPr>
              <a:lnSpc>
                <a:spcPct val="107000"/>
              </a:lnSpc>
              <a:spcAft>
                <a:spcPts val="800"/>
              </a:spcAft>
            </a:pPr>
            <a:r>
              <a:rPr lang="en-IN" sz="1800" dirty="0">
                <a:effectLst/>
                <a:latin typeface="Times New Roman" panose="02020603050405020304" pitchFamily="18" charset="0"/>
                <a:ea typeface="Times New Roman" panose="02020603050405020304" pitchFamily="18" charset="0"/>
              </a:rPr>
              <a:t> </a:t>
            </a:r>
            <a:endParaRPr lang="en-HK" sz="1800" dirty="0">
              <a:effectLst/>
              <a:latin typeface="Calibri" panose="020F0502020204030204" pitchFamily="34" charset="0"/>
              <a:ea typeface="Calibri" panose="020F0502020204030204" pitchFamily="34" charset="0"/>
            </a:endParaRPr>
          </a:p>
          <a:p>
            <a:endParaRPr lang="en-HK" dirty="0"/>
          </a:p>
        </p:txBody>
      </p:sp>
    </p:spTree>
    <p:extLst>
      <p:ext uri="{BB962C8B-B14F-4D97-AF65-F5344CB8AC3E}">
        <p14:creationId xmlns:p14="http://schemas.microsoft.com/office/powerpoint/2010/main" val="41131731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0" y="117565"/>
            <a:ext cx="9281160" cy="1384663"/>
          </a:xfrm>
        </p:spPr>
        <p:txBody>
          <a:bodyPr>
            <a:normAutofit/>
          </a:bodyPr>
          <a:lstStyle/>
          <a:p>
            <a:r>
              <a:rPr lang="en-US" sz="2800" b="1" dirty="0">
                <a:solidFill>
                  <a:schemeClr val="accent2">
                    <a:lumMod val="60000"/>
                    <a:lumOff val="40000"/>
                  </a:schemeClr>
                </a:solidFill>
                <a:latin typeface="Times New Roman" panose="02020603050405020304" pitchFamily="18" charset="0"/>
                <a:cs typeface="Times New Roman" panose="02020603050405020304" pitchFamily="18" charset="0"/>
              </a:rPr>
              <a:t>References:</a:t>
            </a:r>
            <a:r>
              <a:rPr lang="en-US" sz="2800" dirty="0">
                <a:solidFill>
                  <a:schemeClr val="accent2">
                    <a:lumMod val="60000"/>
                    <a:lumOff val="40000"/>
                  </a:schemeClr>
                </a:solidFill>
                <a:latin typeface="Times New Roman" panose="02020603050405020304" pitchFamily="18" charset="0"/>
                <a:cs typeface="Times New Roman" panose="02020603050405020304" pitchFamily="18" charset="0"/>
              </a:rPr>
              <a:t/>
            </a:r>
            <a:br>
              <a:rPr lang="en-US" sz="2800" dirty="0">
                <a:solidFill>
                  <a:schemeClr val="accent2">
                    <a:lumMod val="60000"/>
                    <a:lumOff val="40000"/>
                  </a:schemeClr>
                </a:solidFill>
                <a:latin typeface="Times New Roman" panose="02020603050405020304" pitchFamily="18" charset="0"/>
                <a:cs typeface="Times New Roman" panose="02020603050405020304" pitchFamily="18" charset="0"/>
              </a:rPr>
            </a:br>
            <a:endParaRPr lang="en-US" sz="2800"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4FAB73BC-B049-4115-A692-8D63A059BFB8}" type="slidenum">
              <a:rPr lang="en-US" smtClean="0"/>
              <a:pPr/>
              <a:t>19</a:t>
            </a:fld>
            <a:endParaRPr lang="en-US" dirty="0"/>
          </a:p>
        </p:txBody>
      </p:sp>
      <p:sp>
        <p:nvSpPr>
          <p:cNvPr id="6" name="TextBox 5"/>
          <p:cNvSpPr txBox="1"/>
          <p:nvPr/>
        </p:nvSpPr>
        <p:spPr>
          <a:xfrm>
            <a:off x="2032000" y="940526"/>
            <a:ext cx="9117874" cy="5078313"/>
          </a:xfrm>
          <a:prstGeom prst="rect">
            <a:avLst/>
          </a:prstGeom>
          <a:noFill/>
        </p:spPr>
        <p:txBody>
          <a:bodyPr wrap="square" rtlCol="0">
            <a:spAutoFit/>
          </a:bodyPr>
          <a:lstStyle/>
          <a:p>
            <a:r>
              <a:rPr lang="en-IN" dirty="0"/>
              <a:t>Chaffey, D. (2021). </a:t>
            </a:r>
            <a:r>
              <a:rPr lang="en-IN" i="1" dirty="0"/>
              <a:t>Digital Marketing: Strategy, Implementation, and Practice</a:t>
            </a:r>
            <a:r>
              <a:rPr lang="en-IN" dirty="0"/>
              <a:t>. Pearson Education. </a:t>
            </a:r>
            <a:r>
              <a:rPr lang="en-IN" u="sng" dirty="0">
                <a:hlinkClick r:id="rId2"/>
              </a:rPr>
              <a:t>Available on Amazon</a:t>
            </a:r>
            <a:r>
              <a:rPr lang="en-IN" dirty="0"/>
              <a:t>.</a:t>
            </a:r>
            <a:endParaRPr lang="en-US" dirty="0"/>
          </a:p>
          <a:p>
            <a:r>
              <a:rPr lang="en-IN" dirty="0">
                <a:sym typeface="Times New Roman" panose="02020603050405020304" pitchFamily="18" charset="0"/>
              </a:rPr>
              <a:t></a:t>
            </a:r>
            <a:r>
              <a:rPr lang="en-IN" dirty="0"/>
              <a:t> Laudon, K. C., &amp; </a:t>
            </a:r>
            <a:r>
              <a:rPr lang="en-IN" dirty="0" err="1"/>
              <a:t>Traver</a:t>
            </a:r>
            <a:r>
              <a:rPr lang="en-IN" dirty="0"/>
              <a:t>, C. G. (2021). </a:t>
            </a:r>
            <a:r>
              <a:rPr lang="en-IN" i="1" dirty="0"/>
              <a:t>E-commerce: Business, Technology, and Society</a:t>
            </a:r>
            <a:r>
              <a:rPr lang="en-IN" dirty="0"/>
              <a:t>. Pearson Education. </a:t>
            </a:r>
            <a:r>
              <a:rPr lang="en-IN" u="sng" dirty="0"/>
              <a:t>Available on Pearson.</a:t>
            </a:r>
            <a:endParaRPr lang="en-US" dirty="0"/>
          </a:p>
          <a:p>
            <a:r>
              <a:rPr lang="en-IN" dirty="0">
                <a:sym typeface="Times New Roman" panose="02020603050405020304" pitchFamily="18" charset="0"/>
              </a:rPr>
              <a:t></a:t>
            </a:r>
            <a:r>
              <a:rPr lang="en-IN" dirty="0"/>
              <a:t>Statista. (2025). </a:t>
            </a:r>
            <a:r>
              <a:rPr lang="en-IN" i="1" dirty="0"/>
              <a:t>Global E-commerce Market Revenue</a:t>
            </a:r>
            <a:r>
              <a:rPr lang="en-IN" dirty="0"/>
              <a:t>. Retrieved from </a:t>
            </a:r>
            <a:r>
              <a:rPr lang="en-IN" u="sng" dirty="0"/>
              <a:t>https://www.statista.com.</a:t>
            </a:r>
            <a:endParaRPr lang="en-US" dirty="0"/>
          </a:p>
          <a:p>
            <a:r>
              <a:rPr lang="en-IN" dirty="0">
                <a:sym typeface="Times New Roman" panose="02020603050405020304" pitchFamily="18" charset="0"/>
              </a:rPr>
              <a:t></a:t>
            </a:r>
            <a:r>
              <a:rPr lang="en-IN" dirty="0"/>
              <a:t> Turban, E., Outland, J., King, D., Lee, J. K., Liang, T.-P., &amp; Turban, D. C. (2021). </a:t>
            </a:r>
            <a:r>
              <a:rPr lang="en-IN" i="1" dirty="0"/>
              <a:t>Electronic Commerce 2021: A Managerial and Social Networks Perspective</a:t>
            </a:r>
            <a:r>
              <a:rPr lang="en-IN" dirty="0"/>
              <a:t>. Springer. </a:t>
            </a:r>
            <a:r>
              <a:rPr lang="en-IN" u="sng" dirty="0">
                <a:hlinkClick r:id="rId3"/>
              </a:rPr>
              <a:t>Springer Link</a:t>
            </a:r>
            <a:r>
              <a:rPr lang="en-IN" dirty="0" smtClean="0"/>
              <a:t>.</a:t>
            </a:r>
            <a:endParaRPr lang="en-US" dirty="0"/>
          </a:p>
          <a:p>
            <a:r>
              <a:rPr lang="en-IN" dirty="0">
                <a:sym typeface="Times New Roman" panose="02020603050405020304" pitchFamily="18" charset="0"/>
              </a:rPr>
              <a:t></a:t>
            </a:r>
            <a:r>
              <a:rPr lang="en-IN" dirty="0"/>
              <a:t> World Economic Forum. (2023). </a:t>
            </a:r>
            <a:r>
              <a:rPr lang="en-IN" i="1" dirty="0"/>
              <a:t>The Future of E-commerce: Trends and Insights</a:t>
            </a:r>
            <a:r>
              <a:rPr lang="en-IN" dirty="0"/>
              <a:t>. Retrieved from </a:t>
            </a:r>
            <a:r>
              <a:rPr lang="en-IN" u="sng" dirty="0"/>
              <a:t>https://www.weforum.org.</a:t>
            </a:r>
            <a:endParaRPr lang="en-US" dirty="0"/>
          </a:p>
          <a:p>
            <a:r>
              <a:rPr lang="en-IN" dirty="0">
                <a:sym typeface="Times New Roman" panose="02020603050405020304" pitchFamily="18" charset="0"/>
              </a:rPr>
              <a:t></a:t>
            </a:r>
            <a:r>
              <a:rPr lang="en-IN" dirty="0"/>
              <a:t>Amazon Web Services. (2024). </a:t>
            </a:r>
            <a:r>
              <a:rPr lang="en-IN" i="1" dirty="0"/>
              <a:t>Building Scalable E-commerce Applications</a:t>
            </a:r>
            <a:r>
              <a:rPr lang="en-IN" dirty="0"/>
              <a:t>. Retrieved from </a:t>
            </a:r>
            <a:r>
              <a:rPr lang="en-IN" u="sng" dirty="0">
                <a:hlinkClick r:id="rId4"/>
              </a:rPr>
              <a:t>https://aws.amazon.com/architecture</a:t>
            </a:r>
            <a:r>
              <a:rPr lang="en-IN" dirty="0" smtClean="0"/>
              <a:t>.</a:t>
            </a:r>
            <a:r>
              <a:rPr lang="en-US" dirty="0"/>
              <a:t> </a:t>
            </a:r>
          </a:p>
          <a:p>
            <a:pPr fontAlgn="base"/>
            <a:r>
              <a:rPr lang="en-IN" dirty="0"/>
              <a:t>Project Link:  </a:t>
            </a:r>
            <a:r>
              <a:rPr lang="en-IN" u="sng" dirty="0">
                <a:hlinkClick r:id="rId5" tooltip="https://github.com/sagar28-kls/Grocery-shopping.git"/>
              </a:rPr>
              <a:t>https://github.com/sagar28-kls/Grocery-shopping.git</a:t>
            </a:r>
            <a:r>
              <a:rPr lang="en-IN" dirty="0"/>
              <a:t> </a:t>
            </a:r>
            <a:endParaRPr lang="en-US" dirty="0"/>
          </a:p>
          <a:p>
            <a:r>
              <a:rPr lang="en-IN" dirty="0"/>
              <a:t> </a:t>
            </a:r>
            <a:endParaRPr lang="en-US" dirty="0"/>
          </a:p>
          <a:p>
            <a:r>
              <a:rPr lang="en-IN" dirty="0"/>
              <a:t> </a:t>
            </a:r>
            <a:endParaRPr lang="en-US" dirty="0"/>
          </a:p>
          <a:p>
            <a:r>
              <a:rPr lang="en-IN" b="1" dirty="0"/>
              <a:t> </a:t>
            </a:r>
            <a:endParaRPr lang="en-US" dirty="0"/>
          </a:p>
          <a:p>
            <a:endParaRPr lang="en-US" dirty="0"/>
          </a:p>
        </p:txBody>
      </p:sp>
    </p:spTree>
    <p:extLst>
      <p:ext uri="{BB962C8B-B14F-4D97-AF65-F5344CB8AC3E}">
        <p14:creationId xmlns:p14="http://schemas.microsoft.com/office/powerpoint/2010/main" val="17146332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tint val="75000"/>
                <a:shade val="58000"/>
                <a:satMod val="120000"/>
              </a:schemeClr>
              <a:schemeClr val="bg1">
                <a:tint val="50000"/>
                <a:shade val="96000"/>
              </a:schemeClr>
            </a:duotone>
          </a:blip>
          <a:tile tx="0" ty="0" sx="100000" sy="100000" flip="none" algn="tl"/>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3E9FBC8E-8666-4442-8D7D-B250510CD4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84" y="2005"/>
            <a:ext cx="10908632" cy="6853991"/>
          </a:xfrm>
          <a:custGeom>
            <a:avLst/>
            <a:gdLst>
              <a:gd name="connsiteX0" fmla="*/ 9059740 w 10908632"/>
              <a:gd name="connsiteY0" fmla="*/ 0 h 6853991"/>
              <a:gd name="connsiteX1" fmla="*/ 9694921 w 10908632"/>
              <a:gd name="connsiteY1" fmla="*/ 0 h 6853991"/>
              <a:gd name="connsiteX2" fmla="*/ 9825053 w 10908632"/>
              <a:gd name="connsiteY2" fmla="*/ 165594 h 6853991"/>
              <a:gd name="connsiteX3" fmla="*/ 10908632 w 10908632"/>
              <a:gd name="connsiteY3" fmla="*/ 3429000 h 6853991"/>
              <a:gd name="connsiteX4" fmla="*/ 9825053 w 10908632"/>
              <a:gd name="connsiteY4" fmla="*/ 6692406 h 6853991"/>
              <a:gd name="connsiteX5" fmla="*/ 9698072 w 10908632"/>
              <a:gd name="connsiteY5" fmla="*/ 6853991 h 6853991"/>
              <a:gd name="connsiteX6" fmla="*/ 9063562 w 10908632"/>
              <a:gd name="connsiteY6" fmla="*/ 6853991 h 6853991"/>
              <a:gd name="connsiteX7" fmla="*/ 9138428 w 10908632"/>
              <a:gd name="connsiteY7" fmla="*/ 6775466 h 6853991"/>
              <a:gd name="connsiteX8" fmla="*/ 10431379 w 10908632"/>
              <a:gd name="connsiteY8" fmla="*/ 3429000 h 6853991"/>
              <a:gd name="connsiteX9" fmla="*/ 9138428 w 10908632"/>
              <a:gd name="connsiteY9" fmla="*/ 82534 h 6853991"/>
              <a:gd name="connsiteX10" fmla="*/ 2037821 w 10908632"/>
              <a:gd name="connsiteY10" fmla="*/ 0 h 6853991"/>
              <a:gd name="connsiteX11" fmla="*/ 8870811 w 10908632"/>
              <a:gd name="connsiteY11" fmla="*/ 0 h 6853991"/>
              <a:gd name="connsiteX12" fmla="*/ 8877212 w 10908632"/>
              <a:gd name="connsiteY12" fmla="*/ 6103 h 6853991"/>
              <a:gd name="connsiteX13" fmla="*/ 10295021 w 10908632"/>
              <a:gd name="connsiteY13" fmla="*/ 3429000 h 6853991"/>
              <a:gd name="connsiteX14" fmla="*/ 8877212 w 10908632"/>
              <a:gd name="connsiteY14" fmla="*/ 6851897 h 6853991"/>
              <a:gd name="connsiteX15" fmla="*/ 8875015 w 10908632"/>
              <a:gd name="connsiteY15" fmla="*/ 6853991 h 6853991"/>
              <a:gd name="connsiteX16" fmla="*/ 2033617 w 10908632"/>
              <a:gd name="connsiteY16" fmla="*/ 6853991 h 6853991"/>
              <a:gd name="connsiteX17" fmla="*/ 2031421 w 10908632"/>
              <a:gd name="connsiteY17" fmla="*/ 6851897 h 6853991"/>
              <a:gd name="connsiteX18" fmla="*/ 613611 w 10908632"/>
              <a:gd name="connsiteY18" fmla="*/ 3429000 h 6853991"/>
              <a:gd name="connsiteX19" fmla="*/ 2031420 w 10908632"/>
              <a:gd name="connsiteY19" fmla="*/ 6103 h 6853991"/>
              <a:gd name="connsiteX20" fmla="*/ 1213711 w 10908632"/>
              <a:gd name="connsiteY20" fmla="*/ 0 h 6853991"/>
              <a:gd name="connsiteX21" fmla="*/ 1848893 w 10908632"/>
              <a:gd name="connsiteY21" fmla="*/ 0 h 6853991"/>
              <a:gd name="connsiteX22" fmla="*/ 1770204 w 10908632"/>
              <a:gd name="connsiteY22" fmla="*/ 82534 h 6853991"/>
              <a:gd name="connsiteX23" fmla="*/ 477253 w 10908632"/>
              <a:gd name="connsiteY23" fmla="*/ 3429000 h 6853991"/>
              <a:gd name="connsiteX24" fmla="*/ 1770204 w 10908632"/>
              <a:gd name="connsiteY24" fmla="*/ 6775466 h 6853991"/>
              <a:gd name="connsiteX25" fmla="*/ 1845071 w 10908632"/>
              <a:gd name="connsiteY25" fmla="*/ 6853991 h 6853991"/>
              <a:gd name="connsiteX26" fmla="*/ 1210561 w 10908632"/>
              <a:gd name="connsiteY26" fmla="*/ 6853991 h 6853991"/>
              <a:gd name="connsiteX27" fmla="*/ 1083579 w 10908632"/>
              <a:gd name="connsiteY27" fmla="*/ 6692406 h 6853991"/>
              <a:gd name="connsiteX28" fmla="*/ 0 w 10908632"/>
              <a:gd name="connsiteY28" fmla="*/ 3429000 h 6853991"/>
              <a:gd name="connsiteX29" fmla="*/ 1083579 w 10908632"/>
              <a:gd name="connsiteY29" fmla="*/ 165594 h 6853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908632" h="6853991">
                <a:moveTo>
                  <a:pt x="9059740" y="0"/>
                </a:moveTo>
                <a:lnTo>
                  <a:pt x="9694921" y="0"/>
                </a:lnTo>
                <a:lnTo>
                  <a:pt x="9825053" y="165594"/>
                </a:lnTo>
                <a:cubicBezTo>
                  <a:pt x="10505610" y="1075607"/>
                  <a:pt x="10908632" y="2205238"/>
                  <a:pt x="10908632" y="3429000"/>
                </a:cubicBezTo>
                <a:cubicBezTo>
                  <a:pt x="10908632" y="4652762"/>
                  <a:pt x="10505610" y="5782393"/>
                  <a:pt x="9825053" y="6692406"/>
                </a:cubicBezTo>
                <a:lnTo>
                  <a:pt x="9698072" y="6853991"/>
                </a:lnTo>
                <a:lnTo>
                  <a:pt x="9063562" y="6853991"/>
                </a:lnTo>
                <a:lnTo>
                  <a:pt x="9138428" y="6775466"/>
                </a:lnTo>
                <a:cubicBezTo>
                  <a:pt x="9941761" y="5891604"/>
                  <a:pt x="10431379" y="4717480"/>
                  <a:pt x="10431379" y="3429000"/>
                </a:cubicBezTo>
                <a:cubicBezTo>
                  <a:pt x="10431379" y="2140521"/>
                  <a:pt x="9941761" y="966397"/>
                  <a:pt x="9138428" y="82534"/>
                </a:cubicBezTo>
                <a:close/>
                <a:moveTo>
                  <a:pt x="2037821" y="0"/>
                </a:moveTo>
                <a:lnTo>
                  <a:pt x="8870811" y="0"/>
                </a:lnTo>
                <a:lnTo>
                  <a:pt x="8877212" y="6103"/>
                </a:lnTo>
                <a:cubicBezTo>
                  <a:pt x="9753207" y="882099"/>
                  <a:pt x="10295021" y="2092275"/>
                  <a:pt x="10295021" y="3429000"/>
                </a:cubicBezTo>
                <a:cubicBezTo>
                  <a:pt x="10295021" y="4765725"/>
                  <a:pt x="9753207" y="5975902"/>
                  <a:pt x="8877212" y="6851897"/>
                </a:cubicBezTo>
                <a:lnTo>
                  <a:pt x="8875015" y="6853991"/>
                </a:lnTo>
                <a:lnTo>
                  <a:pt x="2033617" y="6853991"/>
                </a:lnTo>
                <a:lnTo>
                  <a:pt x="2031421" y="6851897"/>
                </a:lnTo>
                <a:cubicBezTo>
                  <a:pt x="1155426" y="5975902"/>
                  <a:pt x="613611" y="4765725"/>
                  <a:pt x="613611" y="3429000"/>
                </a:cubicBezTo>
                <a:cubicBezTo>
                  <a:pt x="613611" y="2092275"/>
                  <a:pt x="1155425" y="882099"/>
                  <a:pt x="2031420" y="6103"/>
                </a:cubicBezTo>
                <a:close/>
                <a:moveTo>
                  <a:pt x="1213711" y="0"/>
                </a:moveTo>
                <a:lnTo>
                  <a:pt x="1848893" y="0"/>
                </a:lnTo>
                <a:lnTo>
                  <a:pt x="1770204" y="82534"/>
                </a:lnTo>
                <a:cubicBezTo>
                  <a:pt x="966871" y="966397"/>
                  <a:pt x="477253" y="2140521"/>
                  <a:pt x="477253" y="3429000"/>
                </a:cubicBezTo>
                <a:cubicBezTo>
                  <a:pt x="477253" y="4717480"/>
                  <a:pt x="966872" y="5891604"/>
                  <a:pt x="1770204" y="6775466"/>
                </a:cubicBezTo>
                <a:lnTo>
                  <a:pt x="1845071" y="6853991"/>
                </a:lnTo>
                <a:lnTo>
                  <a:pt x="1210561" y="6853991"/>
                </a:lnTo>
                <a:lnTo>
                  <a:pt x="1083579" y="6692406"/>
                </a:lnTo>
                <a:cubicBezTo>
                  <a:pt x="403022" y="5782393"/>
                  <a:pt x="0" y="4652762"/>
                  <a:pt x="0" y="3429000"/>
                </a:cubicBezTo>
                <a:cubicBezTo>
                  <a:pt x="0" y="2205238"/>
                  <a:pt x="403022" y="1075607"/>
                  <a:pt x="1083579" y="165594"/>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 name="Slide Number Placeholder 1">
            <a:extLst>
              <a:ext uri="{FF2B5EF4-FFF2-40B4-BE49-F238E27FC236}">
                <a16:creationId xmlns:a16="http://schemas.microsoft.com/office/drawing/2014/main" id="{091DC9EA-D8D8-C22D-6B47-B404C559EBE0}"/>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20</a:t>
            </a:fld>
            <a:endParaRPr lang="en-US"/>
          </a:p>
        </p:txBody>
      </p:sp>
      <p:sp>
        <p:nvSpPr>
          <p:cNvPr id="4" name="Rectangle: Diagonal Corners Rounded 3">
            <a:extLst>
              <a:ext uri="{FF2B5EF4-FFF2-40B4-BE49-F238E27FC236}">
                <a16:creationId xmlns:a16="http://schemas.microsoft.com/office/drawing/2014/main" id="{495E176C-FBAC-2E13-8841-18D3E770142A}"/>
              </a:ext>
            </a:extLst>
          </p:cNvPr>
          <p:cNvSpPr/>
          <p:nvPr/>
        </p:nvSpPr>
        <p:spPr>
          <a:xfrm>
            <a:off x="2138719" y="2540000"/>
            <a:ext cx="1818562" cy="1394692"/>
          </a:xfrm>
          <a:prstGeom prst="round2DiagRect">
            <a:avLst>
              <a:gd name="adj1" fmla="val 29727"/>
              <a:gd name="adj2" fmla="val 0"/>
            </a:avLst>
          </a:prstGeom>
        </p:spPr>
        <p:style>
          <a:lnRef idx="0">
            <a:schemeClr val="accent2">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HK"/>
          </a:p>
        </p:txBody>
      </p:sp>
      <p:sp>
        <p:nvSpPr>
          <p:cNvPr id="6" name="Rectangle 5" descr="Marker">
            <a:extLst>
              <a:ext uri="{FF2B5EF4-FFF2-40B4-BE49-F238E27FC236}">
                <a16:creationId xmlns:a16="http://schemas.microsoft.com/office/drawing/2014/main" id="{DE93CE60-FAEF-F311-DB7F-1C04DCAFFCC1}"/>
              </a:ext>
            </a:extLst>
          </p:cNvPr>
          <p:cNvSpPr/>
          <p:nvPr/>
        </p:nvSpPr>
        <p:spPr>
          <a:xfrm>
            <a:off x="2443154" y="2741027"/>
            <a:ext cx="1043437" cy="1043437"/>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HK"/>
          </a:p>
        </p:txBody>
      </p:sp>
      <p:sp>
        <p:nvSpPr>
          <p:cNvPr id="12" name="Rectangle: Diagonal Corners Rounded 11">
            <a:extLst>
              <a:ext uri="{FF2B5EF4-FFF2-40B4-BE49-F238E27FC236}">
                <a16:creationId xmlns:a16="http://schemas.microsoft.com/office/drawing/2014/main" id="{E644F921-6A46-BE45-A203-C5999697A71C}"/>
              </a:ext>
            </a:extLst>
          </p:cNvPr>
          <p:cNvSpPr/>
          <p:nvPr/>
        </p:nvSpPr>
        <p:spPr>
          <a:xfrm>
            <a:off x="4881919" y="2540000"/>
            <a:ext cx="1818562" cy="1414973"/>
          </a:xfrm>
          <a:prstGeom prst="round2DiagRect">
            <a:avLst>
              <a:gd name="adj1" fmla="val 29727"/>
              <a:gd name="adj2" fmla="val 0"/>
            </a:avLst>
          </a:prstGeom>
        </p:spPr>
        <p:style>
          <a:lnRef idx="0">
            <a:schemeClr val="accent2">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HK"/>
          </a:p>
        </p:txBody>
      </p:sp>
      <p:sp>
        <p:nvSpPr>
          <p:cNvPr id="13" name="Rectangle 12" descr="Apple">
            <a:extLst>
              <a:ext uri="{FF2B5EF4-FFF2-40B4-BE49-F238E27FC236}">
                <a16:creationId xmlns:a16="http://schemas.microsoft.com/office/drawing/2014/main" id="{9895EE74-DEE5-B2FA-710B-B53112072D35}"/>
              </a:ext>
            </a:extLst>
          </p:cNvPr>
          <p:cNvSpPr/>
          <p:nvPr/>
        </p:nvSpPr>
        <p:spPr>
          <a:xfrm>
            <a:off x="5269481" y="2648663"/>
            <a:ext cx="1043437" cy="104343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HK"/>
          </a:p>
        </p:txBody>
      </p:sp>
      <p:sp>
        <p:nvSpPr>
          <p:cNvPr id="14" name="Rectangle: Diagonal Corners Rounded 13">
            <a:extLst>
              <a:ext uri="{FF2B5EF4-FFF2-40B4-BE49-F238E27FC236}">
                <a16:creationId xmlns:a16="http://schemas.microsoft.com/office/drawing/2014/main" id="{B3E25B19-30A6-408E-91DF-822D28E2409C}"/>
              </a:ext>
            </a:extLst>
          </p:cNvPr>
          <p:cNvSpPr/>
          <p:nvPr/>
        </p:nvSpPr>
        <p:spPr>
          <a:xfrm>
            <a:off x="7408307" y="2539999"/>
            <a:ext cx="1818562" cy="1414974"/>
          </a:xfrm>
          <a:prstGeom prst="round2DiagRect">
            <a:avLst>
              <a:gd name="adj1" fmla="val 29727"/>
              <a:gd name="adj2" fmla="val 0"/>
            </a:avLst>
          </a:prstGeom>
        </p:spPr>
        <p:style>
          <a:lnRef idx="0">
            <a:schemeClr val="accent2">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HK"/>
          </a:p>
        </p:txBody>
      </p:sp>
      <p:sp>
        <p:nvSpPr>
          <p:cNvPr id="15" name="Rectangle 14" descr="Fork and knife">
            <a:extLst>
              <a:ext uri="{FF2B5EF4-FFF2-40B4-BE49-F238E27FC236}">
                <a16:creationId xmlns:a16="http://schemas.microsoft.com/office/drawing/2014/main" id="{9B21B018-553F-B831-3C23-80EFF174F5DC}"/>
              </a:ext>
            </a:extLst>
          </p:cNvPr>
          <p:cNvSpPr/>
          <p:nvPr/>
        </p:nvSpPr>
        <p:spPr>
          <a:xfrm>
            <a:off x="7795869" y="2741026"/>
            <a:ext cx="1043437" cy="1043437"/>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HK"/>
          </a:p>
        </p:txBody>
      </p:sp>
      <p:sp>
        <p:nvSpPr>
          <p:cNvPr id="18" name="TextBox 17">
            <a:extLst>
              <a:ext uri="{FF2B5EF4-FFF2-40B4-BE49-F238E27FC236}">
                <a16:creationId xmlns:a16="http://schemas.microsoft.com/office/drawing/2014/main" id="{4543D21D-116B-AE7E-0578-C5423D82E439}"/>
              </a:ext>
            </a:extLst>
          </p:cNvPr>
          <p:cNvSpPr txBox="1"/>
          <p:nvPr/>
        </p:nvSpPr>
        <p:spPr>
          <a:xfrm>
            <a:off x="3264918" y="1149120"/>
            <a:ext cx="5223300" cy="523220"/>
          </a:xfrm>
          <a:prstGeom prst="rect">
            <a:avLst/>
          </a:prstGeom>
          <a:noFill/>
        </p:spPr>
        <p:txBody>
          <a:bodyPr wrap="square" rtlCol="0">
            <a:spAutoFit/>
          </a:bodyPr>
          <a:lstStyle/>
          <a:p>
            <a:r>
              <a:rPr lang="en-HK" sz="2800" b="1" dirty="0">
                <a:solidFill>
                  <a:schemeClr val="bg1"/>
                </a:solidFill>
                <a:latin typeface="Times New Roman" panose="02020603050405020304" pitchFamily="18" charset="0"/>
                <a:cs typeface="Times New Roman" panose="02020603050405020304" pitchFamily="18" charset="0"/>
              </a:rPr>
              <a:t>Our fresh produce promise</a:t>
            </a:r>
          </a:p>
        </p:txBody>
      </p:sp>
      <p:sp>
        <p:nvSpPr>
          <p:cNvPr id="19" name="TextBox 18">
            <a:extLst>
              <a:ext uri="{FF2B5EF4-FFF2-40B4-BE49-F238E27FC236}">
                <a16:creationId xmlns:a16="http://schemas.microsoft.com/office/drawing/2014/main" id="{6227E1C7-7306-7287-B7E1-B551653DF281}"/>
              </a:ext>
            </a:extLst>
          </p:cNvPr>
          <p:cNvSpPr txBox="1"/>
          <p:nvPr/>
        </p:nvSpPr>
        <p:spPr>
          <a:xfrm>
            <a:off x="2450059" y="4202607"/>
            <a:ext cx="1629717" cy="369332"/>
          </a:xfrm>
          <a:prstGeom prst="rect">
            <a:avLst/>
          </a:prstGeom>
          <a:noFill/>
        </p:spPr>
        <p:txBody>
          <a:bodyPr wrap="square" rtlCol="0">
            <a:spAutoFit/>
          </a:bodyPr>
          <a:lstStyle/>
          <a:p>
            <a:r>
              <a:rPr lang="en-HK" dirty="0">
                <a:solidFill>
                  <a:schemeClr val="bg1"/>
                </a:solidFill>
              </a:rPr>
              <a:t>LOCAL</a:t>
            </a:r>
          </a:p>
        </p:txBody>
      </p:sp>
      <p:sp>
        <p:nvSpPr>
          <p:cNvPr id="20" name="TextBox 19">
            <a:extLst>
              <a:ext uri="{FF2B5EF4-FFF2-40B4-BE49-F238E27FC236}">
                <a16:creationId xmlns:a16="http://schemas.microsoft.com/office/drawing/2014/main" id="{6E996F9F-3233-BBB9-4805-893A48976490}"/>
              </a:ext>
            </a:extLst>
          </p:cNvPr>
          <p:cNvSpPr txBox="1"/>
          <p:nvPr/>
        </p:nvSpPr>
        <p:spPr>
          <a:xfrm>
            <a:off x="5281141" y="4173943"/>
            <a:ext cx="1629717" cy="369332"/>
          </a:xfrm>
          <a:prstGeom prst="rect">
            <a:avLst/>
          </a:prstGeom>
          <a:noFill/>
        </p:spPr>
        <p:txBody>
          <a:bodyPr wrap="square" rtlCol="0">
            <a:spAutoFit/>
          </a:bodyPr>
          <a:lstStyle/>
          <a:p>
            <a:r>
              <a:rPr lang="en-HK" dirty="0">
                <a:solidFill>
                  <a:schemeClr val="bg1"/>
                </a:solidFill>
              </a:rPr>
              <a:t>FRESH</a:t>
            </a:r>
          </a:p>
        </p:txBody>
      </p:sp>
      <p:sp>
        <p:nvSpPr>
          <p:cNvPr id="21" name="TextBox 20">
            <a:extLst>
              <a:ext uri="{FF2B5EF4-FFF2-40B4-BE49-F238E27FC236}">
                <a16:creationId xmlns:a16="http://schemas.microsoft.com/office/drawing/2014/main" id="{C8590493-42C6-0A86-FA95-2E5ADC6E9283}"/>
              </a:ext>
            </a:extLst>
          </p:cNvPr>
          <p:cNvSpPr txBox="1"/>
          <p:nvPr/>
        </p:nvSpPr>
        <p:spPr>
          <a:xfrm>
            <a:off x="7656945" y="4146764"/>
            <a:ext cx="1569924" cy="369332"/>
          </a:xfrm>
          <a:prstGeom prst="rect">
            <a:avLst/>
          </a:prstGeom>
          <a:noFill/>
        </p:spPr>
        <p:txBody>
          <a:bodyPr wrap="square" rtlCol="0">
            <a:spAutoFit/>
          </a:bodyPr>
          <a:lstStyle/>
          <a:p>
            <a:r>
              <a:rPr lang="en-HK" dirty="0">
                <a:solidFill>
                  <a:schemeClr val="bg1"/>
                </a:solidFill>
              </a:rPr>
              <a:t>DELICIOUS</a:t>
            </a:r>
          </a:p>
        </p:txBody>
      </p:sp>
      <p:sp>
        <p:nvSpPr>
          <p:cNvPr id="22" name="TextBox 21">
            <a:extLst>
              <a:ext uri="{FF2B5EF4-FFF2-40B4-BE49-F238E27FC236}">
                <a16:creationId xmlns:a16="http://schemas.microsoft.com/office/drawing/2014/main" id="{C8A1FB8C-160E-04AE-3954-67F11D084F6B}"/>
              </a:ext>
            </a:extLst>
          </p:cNvPr>
          <p:cNvSpPr txBox="1"/>
          <p:nvPr/>
        </p:nvSpPr>
        <p:spPr>
          <a:xfrm>
            <a:off x="4587405" y="5319721"/>
            <a:ext cx="3451026" cy="523220"/>
          </a:xfrm>
          <a:prstGeom prst="rect">
            <a:avLst/>
          </a:prstGeom>
          <a:noFill/>
        </p:spPr>
        <p:txBody>
          <a:bodyPr wrap="square" rtlCol="0">
            <a:spAutoFit/>
          </a:bodyPr>
          <a:lstStyle/>
          <a:p>
            <a:r>
              <a:rPr lang="en-HK" sz="2800" b="1" dirty="0">
                <a:solidFill>
                  <a:schemeClr val="bg1"/>
                </a:solidFill>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112831107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80957EC-86C0-4415-A208-C533BB28C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EE1C908-B3CC-430B-8659-0948FA2BA0C9}">
  <ds:schemaRefs>
    <ds:schemaRef ds:uri="http://schemas.microsoft.com/sharepoint/v3/contenttype/forms"/>
  </ds:schemaRefs>
</ds:datastoreItem>
</file>

<file path=customXml/itemProps3.xml><?xml version="1.0" encoding="utf-8"?>
<ds:datastoreItem xmlns:ds="http://schemas.openxmlformats.org/officeDocument/2006/customXml" ds:itemID="{6D45F22A-22AD-4AB5-B4E5-D6E61E43E45F}">
  <ds:schemaRefs>
    <ds:schemaRef ds:uri="71af3243-3dd4-4a8d-8c0d-dd76da1f02a5"/>
    <ds:schemaRef ds:uri="http://schemas.microsoft.com/office/2006/documentManagement/types"/>
    <ds:schemaRef ds:uri="http://purl.org/dc/elements/1.1/"/>
    <ds:schemaRef ds:uri="http://schemas.openxmlformats.org/package/2006/metadata/core-properties"/>
    <ds:schemaRef ds:uri="http://purl.org/dc/terms/"/>
    <ds:schemaRef ds:uri="http://purl.org/dc/dcmitype/"/>
    <ds:schemaRef ds:uri="16c05727-aa75-4e4a-9b5f-8a80a1165891"/>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Produce design</Template>
  <TotalTime>201</TotalTime>
  <Words>1500</Words>
  <Application>Microsoft Office PowerPoint</Application>
  <PresentationFormat>Widescreen</PresentationFormat>
  <Paragraphs>233</Paragraphs>
  <Slides>20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Rockwell</vt:lpstr>
      <vt:lpstr>Rockwell Condensed</vt:lpstr>
      <vt:lpstr>Symbol</vt:lpstr>
      <vt:lpstr>Times New Roman</vt:lpstr>
      <vt:lpstr>Wingdings</vt:lpstr>
      <vt:lpstr>Wood Type</vt:lpstr>
      <vt:lpstr>“ GROcery store ”</vt:lpstr>
      <vt:lpstr>PowerPoint Presentation</vt:lpstr>
      <vt:lpstr>PowerPoint Presentation</vt:lpstr>
      <vt:lpstr>EXISISTING SYSTEM: </vt:lpstr>
      <vt:lpstr>Literature Review: </vt:lpstr>
      <vt:lpstr>System Requirements: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GROcery store ”</dc:title>
  <dc:creator>Mahi Karpurapu</dc:creator>
  <cp:lastModifiedBy>vignan</cp:lastModifiedBy>
  <cp:revision>14</cp:revision>
  <dcterms:created xsi:type="dcterms:W3CDTF">2025-02-21T14:58:17Z</dcterms:created>
  <dcterms:modified xsi:type="dcterms:W3CDTF">2025-04-09T09:42:11Z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